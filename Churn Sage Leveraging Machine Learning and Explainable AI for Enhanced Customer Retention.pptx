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C5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93" autoAdjust="0"/>
    <p:restoredTop sz="94660"/>
  </p:normalViewPr>
  <p:slideViewPr>
    <p:cSldViewPr snapToGrid="0">
      <p:cViewPr varScale="1">
        <p:scale>
          <a:sx n="87" d="100"/>
          <a:sy n="87" d="100"/>
        </p:scale>
        <p:origin x="34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D98B190A-8C34-4576-A18A-3659163EE9C6}" type="datetimeFigureOut">
              <a:rPr lang="en-IN" smtClean="0"/>
              <a:t>28-03-2025</a:t>
            </a:fld>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p:txBody>
          <a:bodyPr/>
          <a:lstStyle/>
          <a:p>
            <a:fld id="{9693D6C8-70BD-4751-AD9B-14A8AE9C8229}" type="slidenum">
              <a:rPr lang="en-IN" smtClean="0"/>
              <a:t>‹#›</a:t>
            </a:fld>
            <a:endParaRPr lang="en-IN"/>
          </a:p>
        </p:txBody>
      </p:sp>
    </p:spTree>
    <p:extLst>
      <p:ext uri="{BB962C8B-B14F-4D97-AF65-F5344CB8AC3E}">
        <p14:creationId xmlns:p14="http://schemas.microsoft.com/office/powerpoint/2010/main" val="167787301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D98B190A-8C34-4576-A18A-3659163EE9C6}" type="datetimeFigureOut">
              <a:rPr lang="en-IN" smtClean="0"/>
              <a:t>28-03-2025</a:t>
            </a:fld>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p:txBody>
          <a:bodyPr/>
          <a:lstStyle/>
          <a:p>
            <a:fld id="{9693D6C8-70BD-4751-AD9B-14A8AE9C8229}" type="slidenum">
              <a:rPr lang="en-IN" smtClean="0"/>
              <a:t>‹#›</a:t>
            </a:fld>
            <a:endParaRPr lang="en-IN"/>
          </a:p>
        </p:txBody>
      </p:sp>
      <p:sp>
        <p:nvSpPr>
          <p:cNvPr id="7" name="Title 1"/>
          <p:cNvSpPr>
            <a:spLocks noGrp="1"/>
          </p:cNvSpPr>
          <p:nvPr>
            <p:ph type="title"/>
          </p:nvPr>
        </p:nvSpPr>
        <p:spPr>
          <a:xfrm>
            <a:off x="608238" y="753989"/>
            <a:ext cx="10515600" cy="976838"/>
          </a:xfrm>
          <a:prstGeom prst="rect">
            <a:avLst/>
          </a:prstGeom>
        </p:spPr>
        <p:txBody>
          <a:bodyPr/>
          <a:lstStyle/>
          <a:p>
            <a:r>
              <a:rPr lang="en-IN" dirty="0" smtClean="0">
                <a:solidFill>
                  <a:schemeClr val="accent2"/>
                </a:solidFill>
                <a:latin typeface="Bahnschrift Condensed" panose="020B0502040204020203" pitchFamily="34" charset="0"/>
              </a:rPr>
              <a:t>Title</a:t>
            </a:r>
            <a:endParaRPr lang="en-IN" dirty="0">
              <a:solidFill>
                <a:schemeClr val="accent2"/>
              </a:solidFill>
              <a:latin typeface="Bahnschrift Condensed" panose="020B0502040204020203" pitchFamily="34" charset="0"/>
            </a:endParaRPr>
          </a:p>
        </p:txBody>
      </p:sp>
    </p:spTree>
    <p:extLst>
      <p:ext uri="{BB962C8B-B14F-4D97-AF65-F5344CB8AC3E}">
        <p14:creationId xmlns:p14="http://schemas.microsoft.com/office/powerpoint/2010/main" val="113558149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D98B190A-8C34-4576-A18A-3659163EE9C6}" type="datetimeFigureOut">
              <a:rPr lang="en-IN" smtClean="0"/>
              <a:t>28-03-2025</a:t>
            </a:fld>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p:txBody>
          <a:bodyPr/>
          <a:lstStyle/>
          <a:p>
            <a:fld id="{9693D6C8-70BD-4751-AD9B-14A8AE9C8229}" type="slidenum">
              <a:rPr lang="en-IN" smtClean="0"/>
              <a:t>‹#›</a:t>
            </a:fld>
            <a:endParaRPr lang="en-IN"/>
          </a:p>
        </p:txBody>
      </p:sp>
    </p:spTree>
    <p:extLst>
      <p:ext uri="{BB962C8B-B14F-4D97-AF65-F5344CB8AC3E}">
        <p14:creationId xmlns:p14="http://schemas.microsoft.com/office/powerpoint/2010/main" val="365317693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D98B190A-8C34-4576-A18A-3659163EE9C6}" type="datetimeFigureOut">
              <a:rPr lang="en-IN" smtClean="0"/>
              <a:t>28-03-2025</a:t>
            </a:fld>
            <a:endParaRPr lang="en-IN"/>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p:cNvSpPr>
            <a:spLocks noGrp="1"/>
          </p:cNvSpPr>
          <p:nvPr>
            <p:ph type="sldNum" sz="quarter" idx="12"/>
          </p:nvPr>
        </p:nvSpPr>
        <p:spPr/>
        <p:txBody>
          <a:bodyPr/>
          <a:lstStyle/>
          <a:p>
            <a:fld id="{9693D6C8-70BD-4751-AD9B-14A8AE9C8229}" type="slidenum">
              <a:rPr lang="en-IN" smtClean="0"/>
              <a:t>‹#›</a:t>
            </a:fld>
            <a:endParaRPr lang="en-IN"/>
          </a:p>
        </p:txBody>
      </p:sp>
    </p:spTree>
    <p:extLst>
      <p:ext uri="{BB962C8B-B14F-4D97-AF65-F5344CB8AC3E}">
        <p14:creationId xmlns:p14="http://schemas.microsoft.com/office/powerpoint/2010/main" val="616493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D98B190A-8C34-4576-A18A-3659163EE9C6}" type="datetimeFigureOut">
              <a:rPr lang="en-IN" smtClean="0"/>
              <a:t>28-03-2025</a:t>
            </a:fld>
            <a:endParaRPr lang="en-IN"/>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IN"/>
          </a:p>
        </p:txBody>
      </p:sp>
      <p:sp>
        <p:nvSpPr>
          <p:cNvPr id="9" name="Slide Number Placeholder 8"/>
          <p:cNvSpPr>
            <a:spLocks noGrp="1"/>
          </p:cNvSpPr>
          <p:nvPr>
            <p:ph type="sldNum" sz="quarter" idx="12"/>
          </p:nvPr>
        </p:nvSpPr>
        <p:spPr/>
        <p:txBody>
          <a:bodyPr/>
          <a:lstStyle/>
          <a:p>
            <a:fld id="{9693D6C8-70BD-4751-AD9B-14A8AE9C8229}" type="slidenum">
              <a:rPr lang="en-IN" smtClean="0"/>
              <a:t>‹#›</a:t>
            </a:fld>
            <a:endParaRPr lang="en-IN"/>
          </a:p>
        </p:txBody>
      </p:sp>
    </p:spTree>
    <p:extLst>
      <p:ext uri="{BB962C8B-B14F-4D97-AF65-F5344CB8AC3E}">
        <p14:creationId xmlns:p14="http://schemas.microsoft.com/office/powerpoint/2010/main" val="2170484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smtClean="0"/>
              <a:t>Click to edit Master title style</a:t>
            </a:r>
            <a:endParaRPr lang="en-IN"/>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D98B190A-8C34-4576-A18A-3659163EE9C6}" type="datetimeFigureOut">
              <a:rPr lang="en-IN" smtClean="0"/>
              <a:t>28-03-2025</a:t>
            </a:fld>
            <a:endParaRPr lang="en-IN"/>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IN"/>
          </a:p>
        </p:txBody>
      </p:sp>
      <p:sp>
        <p:nvSpPr>
          <p:cNvPr id="5" name="Slide Number Placeholder 4"/>
          <p:cNvSpPr>
            <a:spLocks noGrp="1"/>
          </p:cNvSpPr>
          <p:nvPr>
            <p:ph type="sldNum" sz="quarter" idx="12"/>
          </p:nvPr>
        </p:nvSpPr>
        <p:spPr/>
        <p:txBody>
          <a:bodyPr/>
          <a:lstStyle/>
          <a:p>
            <a:fld id="{9693D6C8-70BD-4751-AD9B-14A8AE9C8229}" type="slidenum">
              <a:rPr lang="en-IN" smtClean="0"/>
              <a:t>‹#›</a:t>
            </a:fld>
            <a:endParaRPr lang="en-IN"/>
          </a:p>
        </p:txBody>
      </p:sp>
    </p:spTree>
    <p:extLst>
      <p:ext uri="{BB962C8B-B14F-4D97-AF65-F5344CB8AC3E}">
        <p14:creationId xmlns:p14="http://schemas.microsoft.com/office/powerpoint/2010/main" val="3020853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D98B190A-8C34-4576-A18A-3659163EE9C6}" type="datetimeFigureOut">
              <a:rPr lang="en-IN" smtClean="0"/>
              <a:t>28-03-2025</a:t>
            </a:fld>
            <a:endParaRPr lang="en-IN"/>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IN"/>
          </a:p>
        </p:txBody>
      </p:sp>
      <p:sp>
        <p:nvSpPr>
          <p:cNvPr id="4" name="Slide Number Placeholder 3"/>
          <p:cNvSpPr>
            <a:spLocks noGrp="1"/>
          </p:cNvSpPr>
          <p:nvPr>
            <p:ph type="sldNum" sz="quarter" idx="12"/>
          </p:nvPr>
        </p:nvSpPr>
        <p:spPr/>
        <p:txBody>
          <a:bodyPr/>
          <a:lstStyle/>
          <a:p>
            <a:fld id="{9693D6C8-70BD-4751-AD9B-14A8AE9C8229}" type="slidenum">
              <a:rPr lang="en-IN" smtClean="0"/>
              <a:t>‹#›</a:t>
            </a:fld>
            <a:endParaRPr lang="en-IN"/>
          </a:p>
        </p:txBody>
      </p:sp>
    </p:spTree>
    <p:extLst>
      <p:ext uri="{BB962C8B-B14F-4D97-AF65-F5344CB8AC3E}">
        <p14:creationId xmlns:p14="http://schemas.microsoft.com/office/powerpoint/2010/main" val="2408352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D98B190A-8C34-4576-A18A-3659163EE9C6}" type="datetimeFigureOut">
              <a:rPr lang="en-IN" smtClean="0"/>
              <a:t>28-03-2025</a:t>
            </a:fld>
            <a:endParaRPr lang="en-IN"/>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p:cNvSpPr>
            <a:spLocks noGrp="1"/>
          </p:cNvSpPr>
          <p:nvPr>
            <p:ph type="sldNum" sz="quarter" idx="12"/>
          </p:nvPr>
        </p:nvSpPr>
        <p:spPr/>
        <p:txBody>
          <a:bodyPr/>
          <a:lstStyle/>
          <a:p>
            <a:fld id="{9693D6C8-70BD-4751-AD9B-14A8AE9C8229}" type="slidenum">
              <a:rPr lang="en-IN" smtClean="0"/>
              <a:t>‹#›</a:t>
            </a:fld>
            <a:endParaRPr lang="en-IN"/>
          </a:p>
        </p:txBody>
      </p:sp>
    </p:spTree>
    <p:extLst>
      <p:ext uri="{BB962C8B-B14F-4D97-AF65-F5344CB8AC3E}">
        <p14:creationId xmlns:p14="http://schemas.microsoft.com/office/powerpoint/2010/main" val="873435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D98B190A-8C34-4576-A18A-3659163EE9C6}" type="datetimeFigureOut">
              <a:rPr lang="en-IN" smtClean="0"/>
              <a:t>28-03-2025</a:t>
            </a:fld>
            <a:endParaRPr lang="en-IN"/>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p:cNvSpPr>
            <a:spLocks noGrp="1"/>
          </p:cNvSpPr>
          <p:nvPr>
            <p:ph type="sldNum" sz="quarter" idx="12"/>
          </p:nvPr>
        </p:nvSpPr>
        <p:spPr/>
        <p:txBody>
          <a:bodyPr/>
          <a:lstStyle/>
          <a:p>
            <a:fld id="{9693D6C8-70BD-4751-AD9B-14A8AE9C8229}" type="slidenum">
              <a:rPr lang="en-IN" smtClean="0"/>
              <a:t>‹#›</a:t>
            </a:fld>
            <a:endParaRPr lang="en-IN"/>
          </a:p>
        </p:txBody>
      </p:sp>
    </p:spTree>
    <p:extLst>
      <p:ext uri="{BB962C8B-B14F-4D97-AF65-F5344CB8AC3E}">
        <p14:creationId xmlns:p14="http://schemas.microsoft.com/office/powerpoint/2010/main" val="2880814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D98B190A-8C34-4576-A18A-3659163EE9C6}" type="datetimeFigureOut">
              <a:rPr lang="en-IN" smtClean="0"/>
              <a:t>28-03-2025</a:t>
            </a:fld>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p:txBody>
          <a:bodyPr/>
          <a:lstStyle/>
          <a:p>
            <a:fld id="{9693D6C8-70BD-4751-AD9B-14A8AE9C8229}" type="slidenum">
              <a:rPr lang="en-IN" smtClean="0"/>
              <a:t>‹#›</a:t>
            </a:fld>
            <a:endParaRPr lang="en-IN"/>
          </a:p>
        </p:txBody>
      </p:sp>
    </p:spTree>
    <p:extLst>
      <p:ext uri="{BB962C8B-B14F-4D97-AF65-F5344CB8AC3E}">
        <p14:creationId xmlns:p14="http://schemas.microsoft.com/office/powerpoint/2010/main" val="3983168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D98B190A-8C34-4576-A18A-3659163EE9C6}" type="datetimeFigureOut">
              <a:rPr lang="en-IN" smtClean="0"/>
              <a:t>28-03-2025</a:t>
            </a:fld>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p:txBody>
          <a:bodyPr/>
          <a:lstStyle/>
          <a:p>
            <a:fld id="{9693D6C8-70BD-4751-AD9B-14A8AE9C8229}" type="slidenum">
              <a:rPr lang="en-IN" smtClean="0"/>
              <a:t>‹#›</a:t>
            </a:fld>
            <a:endParaRPr lang="en-IN"/>
          </a:p>
        </p:txBody>
      </p:sp>
    </p:spTree>
    <p:extLst>
      <p:ext uri="{BB962C8B-B14F-4D97-AF65-F5344CB8AC3E}">
        <p14:creationId xmlns:p14="http://schemas.microsoft.com/office/powerpoint/2010/main" val="1283059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p:cNvSpPr/>
          <p:nvPr userDrawn="1"/>
        </p:nvSpPr>
        <p:spPr>
          <a:xfrm>
            <a:off x="0" y="6652418"/>
            <a:ext cx="12192000" cy="20558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p:cNvSpPr/>
          <p:nvPr userDrawn="1"/>
        </p:nvSpPr>
        <p:spPr>
          <a:xfrm>
            <a:off x="0" y="6652418"/>
            <a:ext cx="383721" cy="2055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userDrawn="1"/>
        </p:nvSpPr>
        <p:spPr>
          <a:xfrm>
            <a:off x="0" y="0"/>
            <a:ext cx="12192000" cy="75111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76103" y="119821"/>
            <a:ext cx="864269" cy="511472"/>
          </a:xfrm>
          <a:prstGeom prst="rect">
            <a:avLst/>
          </a:prstGeom>
        </p:spPr>
      </p:pic>
      <p:pic>
        <p:nvPicPr>
          <p:cNvPr id="9" name="Picture 8"/>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4542277" y="38879"/>
            <a:ext cx="719142" cy="693967"/>
          </a:xfrm>
          <a:prstGeom prst="rect">
            <a:avLst/>
          </a:prstGeom>
        </p:spPr>
      </p:pic>
      <p:pic>
        <p:nvPicPr>
          <p:cNvPr id="10" name="Picture 9"/>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0187904" y="166163"/>
            <a:ext cx="1311877" cy="362406"/>
          </a:xfrm>
          <a:prstGeom prst="rect">
            <a:avLst/>
          </a:prstGeom>
        </p:spPr>
      </p:pic>
      <p:sp>
        <p:nvSpPr>
          <p:cNvPr id="11" name="TextBox 10"/>
          <p:cNvSpPr txBox="1"/>
          <p:nvPr userDrawn="1"/>
        </p:nvSpPr>
        <p:spPr>
          <a:xfrm>
            <a:off x="5261419" y="124252"/>
            <a:ext cx="2784021" cy="461665"/>
          </a:xfrm>
          <a:prstGeom prst="rect">
            <a:avLst/>
          </a:prstGeom>
          <a:noFill/>
        </p:spPr>
        <p:txBody>
          <a:bodyPr wrap="square" rtlCol="0">
            <a:spAutoFit/>
          </a:bodyPr>
          <a:lstStyle/>
          <a:p>
            <a:r>
              <a:rPr lang="en-IN" sz="2400" dirty="0" smtClean="0">
                <a:solidFill>
                  <a:schemeClr val="accent1">
                    <a:lumMod val="50000"/>
                  </a:schemeClr>
                </a:solidFill>
                <a:latin typeface="Bahnschrift Condensed" panose="020B0502040204020203" pitchFamily="34" charset="0"/>
              </a:rPr>
              <a:t>IISU-</a:t>
            </a:r>
            <a:r>
              <a:rPr lang="en-IN" sz="2400" dirty="0" smtClean="0">
                <a:solidFill>
                  <a:schemeClr val="accent1">
                    <a:lumMod val="75000"/>
                  </a:schemeClr>
                </a:solidFill>
                <a:latin typeface="Bahnschrift Condensed" panose="020B0502040204020203" pitchFamily="34" charset="0"/>
              </a:rPr>
              <a:t>ASSET</a:t>
            </a:r>
            <a:r>
              <a:rPr lang="en-IN" sz="2400" dirty="0" smtClean="0">
                <a:solidFill>
                  <a:schemeClr val="accent1">
                    <a:lumMod val="50000"/>
                  </a:schemeClr>
                </a:solidFill>
                <a:latin typeface="Bahnschrift Condensed" panose="020B0502040204020203" pitchFamily="34" charset="0"/>
              </a:rPr>
              <a:t> 2025</a:t>
            </a:r>
            <a:endParaRPr lang="en-IN" sz="2400" dirty="0">
              <a:solidFill>
                <a:schemeClr val="accent1">
                  <a:lumMod val="50000"/>
                </a:schemeClr>
              </a:solidFill>
              <a:latin typeface="Bahnschrift Condensed" panose="020B0502040204020203" pitchFamily="34" charset="0"/>
            </a:endParaRP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Slide Number Placeholder 5"/>
          <p:cNvSpPr>
            <a:spLocks noGrp="1"/>
          </p:cNvSpPr>
          <p:nvPr>
            <p:ph type="sldNum" sz="quarter" idx="4"/>
          </p:nvPr>
        </p:nvSpPr>
        <p:spPr>
          <a:xfrm>
            <a:off x="-1" y="6652418"/>
            <a:ext cx="383721" cy="205582"/>
          </a:xfrm>
          <a:prstGeom prst="rect">
            <a:avLst/>
          </a:prstGeom>
        </p:spPr>
        <p:txBody>
          <a:bodyPr vert="horz" lIns="91440" tIns="45720" rIns="91440" bIns="45720" rtlCol="0" anchor="ctr"/>
          <a:lstStyle>
            <a:lvl1pPr algn="r">
              <a:defRPr sz="1200">
                <a:solidFill>
                  <a:schemeClr val="tx1">
                    <a:tint val="75000"/>
                  </a:schemeClr>
                </a:solidFill>
              </a:defRPr>
            </a:lvl1pPr>
          </a:lstStyle>
          <a:p>
            <a:fld id="{9693D6C8-70BD-4751-AD9B-14A8AE9C8229}" type="slidenum">
              <a:rPr lang="en-IN" smtClean="0"/>
              <a:t>‹#›</a:t>
            </a:fld>
            <a:endParaRPr lang="en-IN" dirty="0"/>
          </a:p>
        </p:txBody>
      </p:sp>
    </p:spTree>
    <p:extLst>
      <p:ext uri="{BB962C8B-B14F-4D97-AF65-F5344CB8AC3E}">
        <p14:creationId xmlns:p14="http://schemas.microsoft.com/office/powerpoint/2010/main" val="28113338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55159" y="1378743"/>
            <a:ext cx="9144000" cy="2387600"/>
          </a:xfrm>
        </p:spPr>
        <p:txBody>
          <a:bodyPr/>
          <a:lstStyle/>
          <a:p>
            <a:r>
              <a:rPr lang="en-IN" sz="4000" b="1" dirty="0" smtClean="0"/>
              <a:t>Paper ID: 152</a:t>
            </a:r>
            <a:br>
              <a:rPr lang="en-IN" sz="4000" b="1" dirty="0" smtClean="0"/>
            </a:br>
            <a:r>
              <a:rPr lang="en-IN" sz="4000" b="1" dirty="0" smtClean="0"/>
              <a:t>Paper Title: </a:t>
            </a:r>
            <a:r>
              <a:rPr lang="en-US" sz="4000" b="1" dirty="0" smtClean="0"/>
              <a:t>Churn Sage: </a:t>
            </a:r>
            <a:r>
              <a:rPr lang="en-US" sz="4000" b="1" dirty="0"/>
              <a:t>Leveraging Machine Learning and Explainable AI for Enhanced Customer Retention</a:t>
            </a:r>
            <a:endParaRPr lang="en-IN" sz="4000" b="1" dirty="0"/>
          </a:p>
        </p:txBody>
      </p:sp>
      <p:sp>
        <p:nvSpPr>
          <p:cNvPr id="3" name="Subtitle 2"/>
          <p:cNvSpPr>
            <a:spLocks noGrp="1"/>
          </p:cNvSpPr>
          <p:nvPr>
            <p:ph type="subTitle" idx="1"/>
          </p:nvPr>
        </p:nvSpPr>
        <p:spPr>
          <a:xfrm>
            <a:off x="1655159" y="4696178"/>
            <a:ext cx="9144000" cy="1378050"/>
          </a:xfrm>
        </p:spPr>
        <p:txBody>
          <a:bodyPr>
            <a:normAutofit/>
          </a:bodyPr>
          <a:lstStyle/>
          <a:p>
            <a:r>
              <a:rPr lang="en-IN" b="1" dirty="0" smtClean="0"/>
              <a:t>Authors</a:t>
            </a:r>
          </a:p>
          <a:p>
            <a:r>
              <a:rPr lang="en-US" sz="1800" dirty="0" smtClean="0"/>
              <a:t>Chandigarh University</a:t>
            </a:r>
            <a:endParaRPr lang="en-IN" sz="1800" dirty="0" smtClean="0"/>
          </a:p>
          <a:p>
            <a:r>
              <a:rPr lang="en-IN" sz="1800" dirty="0" smtClean="0"/>
              <a:t>Mohali, Punjab, India</a:t>
            </a:r>
            <a:endParaRPr lang="en-IN" sz="1800" dirty="0"/>
          </a:p>
        </p:txBody>
      </p:sp>
      <p:sp>
        <p:nvSpPr>
          <p:cNvPr id="8" name="Rectangle 7"/>
          <p:cNvSpPr/>
          <p:nvPr/>
        </p:nvSpPr>
        <p:spPr>
          <a:xfrm>
            <a:off x="0" y="6652418"/>
            <a:ext cx="12192000" cy="20558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p:cNvSpPr/>
          <p:nvPr/>
        </p:nvSpPr>
        <p:spPr>
          <a:xfrm>
            <a:off x="0" y="6652418"/>
            <a:ext cx="383721" cy="2055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0" y="0"/>
            <a:ext cx="12192000" cy="75111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6103" y="119821"/>
            <a:ext cx="864269" cy="511472"/>
          </a:xfrm>
          <a:prstGeom prst="rect">
            <a:avLst/>
          </a:prstGeom>
        </p:spPr>
      </p:pic>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2277" y="38879"/>
            <a:ext cx="719142" cy="693967"/>
          </a:xfrm>
          <a:prstGeom prst="rect">
            <a:avLst/>
          </a:prstGeom>
        </p:spPr>
      </p:pic>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87904" y="166163"/>
            <a:ext cx="1311877" cy="362406"/>
          </a:xfrm>
          <a:prstGeom prst="rect">
            <a:avLst/>
          </a:prstGeom>
        </p:spPr>
      </p:pic>
      <p:sp>
        <p:nvSpPr>
          <p:cNvPr id="14" name="TextBox 13"/>
          <p:cNvSpPr txBox="1"/>
          <p:nvPr/>
        </p:nvSpPr>
        <p:spPr>
          <a:xfrm>
            <a:off x="5261419" y="124252"/>
            <a:ext cx="2784021" cy="461665"/>
          </a:xfrm>
          <a:prstGeom prst="rect">
            <a:avLst/>
          </a:prstGeom>
          <a:noFill/>
        </p:spPr>
        <p:txBody>
          <a:bodyPr wrap="square" rtlCol="0">
            <a:spAutoFit/>
          </a:bodyPr>
          <a:lstStyle/>
          <a:p>
            <a:r>
              <a:rPr lang="en-IN" sz="2400" dirty="0" smtClean="0">
                <a:solidFill>
                  <a:schemeClr val="accent1">
                    <a:lumMod val="50000"/>
                  </a:schemeClr>
                </a:solidFill>
                <a:latin typeface="Bahnschrift Condensed" panose="020B0502040204020203" pitchFamily="34" charset="0"/>
              </a:rPr>
              <a:t>IISU-</a:t>
            </a:r>
            <a:r>
              <a:rPr lang="en-IN" sz="2400" dirty="0" smtClean="0">
                <a:solidFill>
                  <a:schemeClr val="accent1">
                    <a:lumMod val="75000"/>
                  </a:schemeClr>
                </a:solidFill>
                <a:latin typeface="Bahnschrift Condensed" panose="020B0502040204020203" pitchFamily="34" charset="0"/>
              </a:rPr>
              <a:t>ASSET</a:t>
            </a:r>
            <a:r>
              <a:rPr lang="en-IN" sz="2400" dirty="0" smtClean="0">
                <a:solidFill>
                  <a:schemeClr val="accent1">
                    <a:lumMod val="50000"/>
                  </a:schemeClr>
                </a:solidFill>
                <a:latin typeface="Bahnschrift Condensed" panose="020B0502040204020203" pitchFamily="34" charset="0"/>
              </a:rPr>
              <a:t> 2025</a:t>
            </a:r>
            <a:endParaRPr lang="en-IN" sz="2400" dirty="0">
              <a:solidFill>
                <a:schemeClr val="accent1">
                  <a:lumMod val="50000"/>
                </a:schemeClr>
              </a:solidFill>
              <a:latin typeface="Bahnschrift Condensed" panose="020B0502040204020203" pitchFamily="34" charset="0"/>
            </a:endParaRPr>
          </a:p>
        </p:txBody>
      </p:sp>
      <p:sp>
        <p:nvSpPr>
          <p:cNvPr id="4" name="TextBox 3"/>
          <p:cNvSpPr txBox="1"/>
          <p:nvPr/>
        </p:nvSpPr>
        <p:spPr>
          <a:xfrm>
            <a:off x="3828020" y="4012598"/>
            <a:ext cx="4933244" cy="707886"/>
          </a:xfrm>
          <a:prstGeom prst="rect">
            <a:avLst/>
          </a:prstGeom>
          <a:noFill/>
        </p:spPr>
        <p:txBody>
          <a:bodyPr wrap="square" rtlCol="0">
            <a:spAutoFit/>
          </a:bodyPr>
          <a:lstStyle/>
          <a:p>
            <a:pPr algn="ctr"/>
            <a:r>
              <a:rPr lang="en-US" sz="2000" dirty="0" err="1" smtClean="0">
                <a:solidFill>
                  <a:srgbClr val="C00000"/>
                </a:solidFill>
              </a:rPr>
              <a:t>Disha</a:t>
            </a:r>
            <a:r>
              <a:rPr lang="en-US" sz="2000" dirty="0" smtClean="0">
                <a:solidFill>
                  <a:srgbClr val="C00000"/>
                </a:solidFill>
              </a:rPr>
              <a:t> Sharma, Satyam Kumar, </a:t>
            </a:r>
            <a:r>
              <a:rPr lang="en-US" sz="2000" dirty="0" err="1" smtClean="0">
                <a:solidFill>
                  <a:srgbClr val="C00000"/>
                </a:solidFill>
              </a:rPr>
              <a:t>Chiranjeev</a:t>
            </a:r>
            <a:r>
              <a:rPr lang="en-US" sz="2000" dirty="0" smtClean="0">
                <a:solidFill>
                  <a:srgbClr val="C00000"/>
                </a:solidFill>
              </a:rPr>
              <a:t> Kumar Singh, </a:t>
            </a:r>
            <a:r>
              <a:rPr lang="en-US" sz="2000" dirty="0" err="1" smtClean="0">
                <a:solidFill>
                  <a:srgbClr val="C00000"/>
                </a:solidFill>
              </a:rPr>
              <a:t>Shivam</a:t>
            </a:r>
            <a:r>
              <a:rPr lang="en-US" sz="2000" dirty="0" smtClean="0">
                <a:solidFill>
                  <a:srgbClr val="C00000"/>
                </a:solidFill>
              </a:rPr>
              <a:t> Kumar, </a:t>
            </a:r>
            <a:r>
              <a:rPr lang="en-US" sz="2000" dirty="0" err="1" smtClean="0">
                <a:solidFill>
                  <a:srgbClr val="C00000"/>
                </a:solidFill>
              </a:rPr>
              <a:t>Anshul</a:t>
            </a:r>
            <a:r>
              <a:rPr lang="en-US" sz="2000" dirty="0" smtClean="0">
                <a:solidFill>
                  <a:srgbClr val="C00000"/>
                </a:solidFill>
              </a:rPr>
              <a:t> </a:t>
            </a:r>
            <a:r>
              <a:rPr lang="en-US" sz="2000" dirty="0" err="1" smtClean="0">
                <a:solidFill>
                  <a:srgbClr val="C00000"/>
                </a:solidFill>
              </a:rPr>
              <a:t>Gautam</a:t>
            </a:r>
            <a:endParaRPr lang="en-US" sz="2000" dirty="0">
              <a:solidFill>
                <a:srgbClr val="C00000"/>
              </a:solidFill>
            </a:endParaRPr>
          </a:p>
        </p:txBody>
      </p:sp>
    </p:spTree>
    <p:extLst>
      <p:ext uri="{BB962C8B-B14F-4D97-AF65-F5344CB8AC3E}">
        <p14:creationId xmlns:p14="http://schemas.microsoft.com/office/powerpoint/2010/main" val="27206212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5111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6103" y="119821"/>
            <a:ext cx="864269" cy="511472"/>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2277" y="38879"/>
            <a:ext cx="719142" cy="693967"/>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87904" y="166163"/>
            <a:ext cx="1311877" cy="362406"/>
          </a:xfrm>
          <a:prstGeom prst="rect">
            <a:avLst/>
          </a:prstGeom>
        </p:spPr>
      </p:pic>
      <p:sp>
        <p:nvSpPr>
          <p:cNvPr id="2" name="Title 1"/>
          <p:cNvSpPr>
            <a:spLocks noGrp="1"/>
          </p:cNvSpPr>
          <p:nvPr>
            <p:ph type="title"/>
          </p:nvPr>
        </p:nvSpPr>
        <p:spPr>
          <a:xfrm>
            <a:off x="608238" y="753989"/>
            <a:ext cx="10515600" cy="976838"/>
          </a:xfrm>
        </p:spPr>
        <p:txBody>
          <a:bodyPr/>
          <a:lstStyle/>
          <a:p>
            <a:r>
              <a:rPr lang="en-IN" dirty="0" smtClean="0">
                <a:solidFill>
                  <a:schemeClr val="accent2"/>
                </a:solidFill>
                <a:latin typeface="Bahnschrift Condensed" panose="020B0502040204020203" pitchFamily="34" charset="0"/>
              </a:rPr>
              <a:t>Program Statement / Introduction</a:t>
            </a:r>
            <a:endParaRPr lang="en-IN" dirty="0">
              <a:solidFill>
                <a:schemeClr val="accent2"/>
              </a:solidFill>
              <a:latin typeface="Bahnschrift Condensed" panose="020B0502040204020203" pitchFamily="34" charset="0"/>
            </a:endParaRPr>
          </a:p>
        </p:txBody>
      </p:sp>
      <p:sp>
        <p:nvSpPr>
          <p:cNvPr id="3" name="Content Placeholder 2"/>
          <p:cNvSpPr>
            <a:spLocks noGrp="1"/>
          </p:cNvSpPr>
          <p:nvPr>
            <p:ph idx="1"/>
          </p:nvPr>
        </p:nvSpPr>
        <p:spPr>
          <a:xfrm>
            <a:off x="608237" y="1694994"/>
            <a:ext cx="11295291" cy="4837602"/>
          </a:xfrm>
        </p:spPr>
        <p:txBody>
          <a:bodyPr>
            <a:normAutofit/>
          </a:bodyPr>
          <a:lstStyle/>
          <a:p>
            <a:pPr marL="0" indent="0">
              <a:buNone/>
            </a:pPr>
            <a:r>
              <a:rPr lang="en-US" sz="2400" u="sng" dirty="0">
                <a:solidFill>
                  <a:schemeClr val="accent1">
                    <a:lumMod val="50000"/>
                  </a:schemeClr>
                </a:solidFill>
              </a:rPr>
              <a:t>Customer churn </a:t>
            </a:r>
            <a:r>
              <a:rPr lang="en-US" sz="2400" dirty="0">
                <a:solidFill>
                  <a:schemeClr val="accent1">
                    <a:lumMod val="50000"/>
                  </a:schemeClr>
                </a:solidFill>
              </a:rPr>
              <a:t>is a significant challenge for businesses, leading to revenue loss</a:t>
            </a:r>
            <a:r>
              <a:rPr lang="en-US" sz="2400" u="sng" dirty="0">
                <a:solidFill>
                  <a:schemeClr val="accent1">
                    <a:lumMod val="50000"/>
                  </a:schemeClr>
                </a:solidFill>
              </a:rPr>
              <a:t> </a:t>
            </a:r>
            <a:r>
              <a:rPr lang="en-US" sz="2400" dirty="0">
                <a:solidFill>
                  <a:schemeClr val="accent1">
                    <a:lumMod val="50000"/>
                  </a:schemeClr>
                </a:solidFill>
              </a:rPr>
              <a:t>and </a:t>
            </a:r>
            <a:r>
              <a:rPr lang="en-US" sz="2400" u="sng" dirty="0">
                <a:solidFill>
                  <a:schemeClr val="accent1">
                    <a:lumMod val="50000"/>
                  </a:schemeClr>
                </a:solidFill>
              </a:rPr>
              <a:t>reduced profitability</a:t>
            </a:r>
            <a:r>
              <a:rPr lang="en-US" sz="2400" dirty="0">
                <a:solidFill>
                  <a:schemeClr val="accent1">
                    <a:lumMod val="50000"/>
                  </a:schemeClr>
                </a:solidFill>
              </a:rPr>
              <a:t>. As competition increases, </a:t>
            </a:r>
            <a:r>
              <a:rPr lang="en-US" sz="2400" u="sng" dirty="0">
                <a:solidFill>
                  <a:schemeClr val="accent1">
                    <a:lumMod val="50000"/>
                  </a:schemeClr>
                </a:solidFill>
              </a:rPr>
              <a:t>retaining existing customers </a:t>
            </a:r>
            <a:r>
              <a:rPr lang="en-US" sz="2400" dirty="0">
                <a:solidFill>
                  <a:schemeClr val="accent1">
                    <a:lumMod val="50000"/>
                  </a:schemeClr>
                </a:solidFill>
              </a:rPr>
              <a:t>is more cost-effective than </a:t>
            </a:r>
            <a:r>
              <a:rPr lang="en-US" sz="2400" u="sng" dirty="0">
                <a:solidFill>
                  <a:schemeClr val="accent1">
                    <a:lumMod val="50000"/>
                  </a:schemeClr>
                </a:solidFill>
              </a:rPr>
              <a:t>acquiring new ones</a:t>
            </a:r>
            <a:r>
              <a:rPr lang="en-US" sz="2400" dirty="0">
                <a:solidFill>
                  <a:schemeClr val="accent1">
                    <a:lumMod val="50000"/>
                  </a:schemeClr>
                </a:solidFill>
              </a:rPr>
              <a:t>. Businesses need a </a:t>
            </a:r>
            <a:r>
              <a:rPr lang="en-US" sz="2400" u="sng" dirty="0">
                <a:solidFill>
                  <a:schemeClr val="accent1">
                    <a:lumMod val="50000"/>
                  </a:schemeClr>
                </a:solidFill>
              </a:rPr>
              <a:t>data-driven approach </a:t>
            </a:r>
            <a:r>
              <a:rPr lang="en-US" sz="2400" dirty="0">
                <a:solidFill>
                  <a:schemeClr val="accent1">
                    <a:lumMod val="50000"/>
                  </a:schemeClr>
                </a:solidFill>
              </a:rPr>
              <a:t>to identify potential churners early and take proactive steps to </a:t>
            </a:r>
            <a:r>
              <a:rPr lang="en-US" sz="2400" u="sng" dirty="0">
                <a:solidFill>
                  <a:schemeClr val="accent1">
                    <a:lumMod val="50000"/>
                  </a:schemeClr>
                </a:solidFill>
              </a:rPr>
              <a:t>enhance customer retention</a:t>
            </a:r>
            <a:r>
              <a:rPr lang="en-US" sz="2400" dirty="0" smtClean="0">
                <a:solidFill>
                  <a:schemeClr val="accent1">
                    <a:lumMod val="50000"/>
                  </a:schemeClr>
                </a:solidFill>
              </a:rPr>
              <a:t>.</a:t>
            </a:r>
          </a:p>
          <a:p>
            <a:pPr marL="0" indent="0">
              <a:buNone/>
            </a:pPr>
            <a:r>
              <a:rPr lang="en-US" sz="2400" u="sng" dirty="0" smtClean="0">
                <a:solidFill>
                  <a:schemeClr val="accent1">
                    <a:lumMod val="50000"/>
                  </a:schemeClr>
                </a:solidFill>
              </a:rPr>
              <a:t>Churn Sage </a:t>
            </a:r>
            <a:r>
              <a:rPr lang="en-US" sz="2400" dirty="0" smtClean="0">
                <a:solidFill>
                  <a:schemeClr val="accent1">
                    <a:lumMod val="50000"/>
                  </a:schemeClr>
                </a:solidFill>
              </a:rPr>
              <a:t>is a </a:t>
            </a:r>
            <a:r>
              <a:rPr lang="en-US" sz="2400" u="sng" dirty="0" smtClean="0">
                <a:solidFill>
                  <a:schemeClr val="accent1">
                    <a:lumMod val="50000"/>
                  </a:schemeClr>
                </a:solidFill>
              </a:rPr>
              <a:t>Machine Learning-based solution </a:t>
            </a:r>
            <a:r>
              <a:rPr lang="en-US" sz="2400" dirty="0" smtClean="0">
                <a:solidFill>
                  <a:schemeClr val="accent1">
                    <a:lumMod val="50000"/>
                  </a:schemeClr>
                </a:solidFill>
              </a:rPr>
              <a:t>that predicts </a:t>
            </a:r>
            <a:r>
              <a:rPr lang="en-US" sz="2400" u="sng" dirty="0" smtClean="0">
                <a:solidFill>
                  <a:schemeClr val="accent1">
                    <a:lumMod val="50000"/>
                  </a:schemeClr>
                </a:solidFill>
              </a:rPr>
              <a:t>customer churn </a:t>
            </a:r>
            <a:r>
              <a:rPr lang="en-US" sz="2400" dirty="0" smtClean="0">
                <a:solidFill>
                  <a:schemeClr val="accent1">
                    <a:lumMod val="50000"/>
                  </a:schemeClr>
                </a:solidFill>
              </a:rPr>
              <a:t>using </a:t>
            </a:r>
            <a:r>
              <a:rPr lang="en-US" sz="2400" u="sng" dirty="0" smtClean="0">
                <a:solidFill>
                  <a:schemeClr val="accent1">
                    <a:lumMod val="50000"/>
                  </a:schemeClr>
                </a:solidFill>
              </a:rPr>
              <a:t>Python and advanced analytics</a:t>
            </a:r>
            <a:r>
              <a:rPr lang="en-US" sz="2400" dirty="0" smtClean="0">
                <a:solidFill>
                  <a:schemeClr val="accent1">
                    <a:lumMod val="50000"/>
                  </a:schemeClr>
                </a:solidFill>
              </a:rPr>
              <a:t>. The system helps </a:t>
            </a:r>
            <a:r>
              <a:rPr lang="en-US" sz="2400" u="sng" dirty="0" smtClean="0">
                <a:solidFill>
                  <a:schemeClr val="accent1">
                    <a:lumMod val="50000"/>
                  </a:schemeClr>
                </a:solidFill>
              </a:rPr>
              <a:t>businesses analyze customer behavior</a:t>
            </a:r>
            <a:r>
              <a:rPr lang="en-US" sz="2400" dirty="0" smtClean="0">
                <a:solidFill>
                  <a:schemeClr val="accent1">
                    <a:lumMod val="50000"/>
                  </a:schemeClr>
                </a:solidFill>
              </a:rPr>
              <a:t>, reduce churn rates, and </a:t>
            </a:r>
            <a:r>
              <a:rPr lang="en-US" sz="2400" u="sng" dirty="0" smtClean="0">
                <a:solidFill>
                  <a:schemeClr val="accent1">
                    <a:lumMod val="50000"/>
                  </a:schemeClr>
                </a:solidFill>
              </a:rPr>
              <a:t>optimize retention strategies</a:t>
            </a:r>
            <a:r>
              <a:rPr lang="en-US" sz="2400" dirty="0" smtClean="0">
                <a:solidFill>
                  <a:schemeClr val="accent1">
                    <a:lumMod val="50000"/>
                  </a:schemeClr>
                </a:solidFill>
              </a:rPr>
              <a:t>.</a:t>
            </a:r>
          </a:p>
          <a:p>
            <a:r>
              <a:rPr lang="en-US" sz="2400" dirty="0" smtClean="0">
                <a:solidFill>
                  <a:schemeClr val="accent1">
                    <a:lumMod val="50000"/>
                  </a:schemeClr>
                </a:solidFill>
              </a:rPr>
              <a:t>Leverages historical customer data to identify churn patterns.</a:t>
            </a:r>
          </a:p>
          <a:p>
            <a:r>
              <a:rPr lang="en-US" sz="2400" dirty="0" smtClean="0">
                <a:solidFill>
                  <a:schemeClr val="accent1">
                    <a:lumMod val="50000"/>
                  </a:schemeClr>
                </a:solidFill>
              </a:rPr>
              <a:t>Uses Decision Trees, Logistic Regression, Gradient Boosting for accurate forecasting.</a:t>
            </a:r>
          </a:p>
          <a:p>
            <a:r>
              <a:rPr lang="en-US" sz="2400" dirty="0" smtClean="0">
                <a:solidFill>
                  <a:schemeClr val="accent1">
                    <a:lumMod val="50000"/>
                  </a:schemeClr>
                </a:solidFill>
              </a:rPr>
              <a:t>Explainable AI (XAI) provides insights into churn factors, optimizing retention strategies.</a:t>
            </a:r>
          </a:p>
          <a:p>
            <a:r>
              <a:rPr lang="en-US" sz="2400" dirty="0">
                <a:solidFill>
                  <a:schemeClr val="accent1">
                    <a:lumMod val="50000"/>
                  </a:schemeClr>
                </a:solidFill>
              </a:rPr>
              <a:t>Helps businesses take proactive retention strategies to reduce churn rates.</a:t>
            </a:r>
            <a:endParaRPr lang="en-IN" sz="2400" dirty="0">
              <a:solidFill>
                <a:schemeClr val="accent1">
                  <a:lumMod val="50000"/>
                </a:schemeClr>
              </a:solidFill>
            </a:endParaRPr>
          </a:p>
        </p:txBody>
      </p:sp>
      <p:sp>
        <p:nvSpPr>
          <p:cNvPr id="8" name="TextBox 7"/>
          <p:cNvSpPr txBox="1"/>
          <p:nvPr/>
        </p:nvSpPr>
        <p:spPr>
          <a:xfrm>
            <a:off x="5261419" y="124252"/>
            <a:ext cx="2784021" cy="461665"/>
          </a:xfrm>
          <a:prstGeom prst="rect">
            <a:avLst/>
          </a:prstGeom>
          <a:noFill/>
        </p:spPr>
        <p:txBody>
          <a:bodyPr wrap="square" rtlCol="0">
            <a:spAutoFit/>
          </a:bodyPr>
          <a:lstStyle/>
          <a:p>
            <a:r>
              <a:rPr lang="en-IN" sz="2400" dirty="0" smtClean="0">
                <a:solidFill>
                  <a:schemeClr val="accent1">
                    <a:lumMod val="50000"/>
                  </a:schemeClr>
                </a:solidFill>
                <a:latin typeface="Bahnschrift Condensed" panose="020B0502040204020203" pitchFamily="34" charset="0"/>
              </a:rPr>
              <a:t>IISU-</a:t>
            </a:r>
            <a:r>
              <a:rPr lang="en-IN" sz="2400" dirty="0" smtClean="0">
                <a:solidFill>
                  <a:schemeClr val="accent1">
                    <a:lumMod val="75000"/>
                  </a:schemeClr>
                </a:solidFill>
                <a:latin typeface="Bahnschrift Condensed" panose="020B0502040204020203" pitchFamily="34" charset="0"/>
              </a:rPr>
              <a:t>ASSET</a:t>
            </a:r>
            <a:r>
              <a:rPr lang="en-IN" sz="2400" dirty="0" smtClean="0">
                <a:solidFill>
                  <a:schemeClr val="accent1">
                    <a:lumMod val="50000"/>
                  </a:schemeClr>
                </a:solidFill>
                <a:latin typeface="Bahnschrift Condensed" panose="020B0502040204020203" pitchFamily="34" charset="0"/>
              </a:rPr>
              <a:t> 2025</a:t>
            </a:r>
            <a:endParaRPr lang="en-IN" sz="2400" dirty="0">
              <a:solidFill>
                <a:schemeClr val="accent1">
                  <a:lumMod val="50000"/>
                </a:schemeClr>
              </a:solidFill>
              <a:latin typeface="Bahnschrift Condensed" panose="020B0502040204020203" pitchFamily="34" charset="0"/>
            </a:endParaRPr>
          </a:p>
        </p:txBody>
      </p:sp>
      <p:sp>
        <p:nvSpPr>
          <p:cNvPr id="9" name="Rectangle 8"/>
          <p:cNvSpPr/>
          <p:nvPr/>
        </p:nvSpPr>
        <p:spPr>
          <a:xfrm>
            <a:off x="0" y="6652418"/>
            <a:ext cx="12192000" cy="20558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0" y="6652418"/>
            <a:ext cx="383721" cy="2055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897718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5111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6103" y="119821"/>
            <a:ext cx="864269" cy="511472"/>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2277" y="38879"/>
            <a:ext cx="719142" cy="693967"/>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87904" y="166163"/>
            <a:ext cx="1311877" cy="362406"/>
          </a:xfrm>
          <a:prstGeom prst="rect">
            <a:avLst/>
          </a:prstGeom>
        </p:spPr>
      </p:pic>
      <p:sp>
        <p:nvSpPr>
          <p:cNvPr id="2" name="Title 1"/>
          <p:cNvSpPr>
            <a:spLocks noGrp="1"/>
          </p:cNvSpPr>
          <p:nvPr>
            <p:ph type="title"/>
          </p:nvPr>
        </p:nvSpPr>
        <p:spPr>
          <a:xfrm>
            <a:off x="608238" y="753989"/>
            <a:ext cx="10515600" cy="976838"/>
          </a:xfrm>
        </p:spPr>
        <p:txBody>
          <a:bodyPr/>
          <a:lstStyle/>
          <a:p>
            <a:r>
              <a:rPr lang="en-IN" dirty="0" smtClean="0">
                <a:solidFill>
                  <a:schemeClr val="accent2"/>
                </a:solidFill>
                <a:latin typeface="Bahnschrift Condensed" panose="020B0502040204020203" pitchFamily="34" charset="0"/>
              </a:rPr>
              <a:t>Literature Review</a:t>
            </a:r>
            <a:endParaRPr lang="en-IN" dirty="0">
              <a:solidFill>
                <a:schemeClr val="accent2"/>
              </a:solidFill>
              <a:latin typeface="Bahnschrift Condensed" panose="020B0502040204020203" pitchFamily="34" charset="0"/>
            </a:endParaRPr>
          </a:p>
        </p:txBody>
      </p:sp>
      <p:sp>
        <p:nvSpPr>
          <p:cNvPr id="3" name="Content Placeholder 2"/>
          <p:cNvSpPr>
            <a:spLocks noGrp="1"/>
          </p:cNvSpPr>
          <p:nvPr>
            <p:ph idx="1"/>
          </p:nvPr>
        </p:nvSpPr>
        <p:spPr>
          <a:xfrm>
            <a:off x="608237" y="1694994"/>
            <a:ext cx="11295291" cy="4837602"/>
          </a:xfrm>
        </p:spPr>
        <p:txBody>
          <a:bodyPr>
            <a:normAutofit lnSpcReduction="10000"/>
          </a:bodyPr>
          <a:lstStyle/>
          <a:p>
            <a:r>
              <a:rPr lang="en-US" sz="2400" dirty="0">
                <a:solidFill>
                  <a:schemeClr val="accent1">
                    <a:lumMod val="50000"/>
                  </a:schemeClr>
                </a:solidFill>
              </a:rPr>
              <a:t>Research shows ML models </a:t>
            </a:r>
            <a:r>
              <a:rPr lang="en-US" sz="2400" dirty="0" smtClean="0">
                <a:solidFill>
                  <a:schemeClr val="accent1">
                    <a:lumMod val="50000"/>
                  </a:schemeClr>
                </a:solidFill>
              </a:rPr>
              <a:t>consistently outperform </a:t>
            </a:r>
            <a:r>
              <a:rPr lang="en-US" sz="2400" dirty="0">
                <a:solidFill>
                  <a:schemeClr val="accent1">
                    <a:lumMod val="50000"/>
                  </a:schemeClr>
                </a:solidFill>
              </a:rPr>
              <a:t>traditional statistical methods in </a:t>
            </a:r>
            <a:r>
              <a:rPr lang="en-US" sz="2400" dirty="0" smtClean="0">
                <a:solidFill>
                  <a:schemeClr val="accent1">
                    <a:lumMod val="50000"/>
                  </a:schemeClr>
                </a:solidFill>
              </a:rPr>
              <a:t>customer churn </a:t>
            </a:r>
            <a:r>
              <a:rPr lang="en-US" sz="2400" dirty="0">
                <a:solidFill>
                  <a:schemeClr val="accent1">
                    <a:lumMod val="50000"/>
                  </a:schemeClr>
                </a:solidFill>
              </a:rPr>
              <a:t>prediction</a:t>
            </a:r>
            <a:r>
              <a:rPr lang="en-US" sz="2400" dirty="0" smtClean="0">
                <a:solidFill>
                  <a:schemeClr val="accent1">
                    <a:lumMod val="50000"/>
                  </a:schemeClr>
                </a:solidFill>
              </a:rPr>
              <a:t>.</a:t>
            </a:r>
            <a:endParaRPr lang="en-US" sz="2400" dirty="0">
              <a:solidFill>
                <a:schemeClr val="accent1">
                  <a:lumMod val="50000"/>
                </a:schemeClr>
              </a:solidFill>
            </a:endParaRPr>
          </a:p>
          <a:p>
            <a:r>
              <a:rPr lang="en-US" sz="2400" dirty="0">
                <a:solidFill>
                  <a:schemeClr val="accent1">
                    <a:lumMod val="50000"/>
                  </a:schemeClr>
                </a:solidFill>
              </a:rPr>
              <a:t>Various studies emphasize that retaining existing customers is 5x cheaper than acquiring new ones.</a:t>
            </a:r>
          </a:p>
          <a:p>
            <a:r>
              <a:rPr lang="en-US" sz="2400" dirty="0" smtClean="0">
                <a:solidFill>
                  <a:schemeClr val="accent1">
                    <a:lumMod val="50000"/>
                  </a:schemeClr>
                </a:solidFill>
              </a:rPr>
              <a:t>Feature Engineering: Transaction frequency, engagement, purchase </a:t>
            </a:r>
            <a:r>
              <a:rPr lang="en-US" sz="2400" dirty="0" err="1" smtClean="0">
                <a:solidFill>
                  <a:schemeClr val="accent1">
                    <a:lumMod val="50000"/>
                  </a:schemeClr>
                </a:solidFill>
              </a:rPr>
              <a:t>recency</a:t>
            </a:r>
            <a:r>
              <a:rPr lang="en-US" sz="2400" dirty="0" smtClean="0">
                <a:solidFill>
                  <a:schemeClr val="accent1">
                    <a:lumMod val="50000"/>
                  </a:schemeClr>
                </a:solidFill>
              </a:rPr>
              <a:t> are key churn predictors.</a:t>
            </a:r>
          </a:p>
          <a:p>
            <a:r>
              <a:rPr lang="en-US" sz="2400" dirty="0" smtClean="0">
                <a:solidFill>
                  <a:schemeClr val="accent1">
                    <a:lumMod val="50000"/>
                  </a:schemeClr>
                </a:solidFill>
              </a:rPr>
              <a:t>Explainable AI (XAI): SHAP &amp; LIME improve model transparency &amp; decision-making.</a:t>
            </a:r>
            <a:endParaRPr lang="en-IN" sz="2400" dirty="0" smtClean="0">
              <a:solidFill>
                <a:schemeClr val="accent1">
                  <a:lumMod val="50000"/>
                </a:schemeClr>
              </a:solidFill>
            </a:endParaRPr>
          </a:p>
          <a:p>
            <a:r>
              <a:rPr lang="en-IN" sz="2400" dirty="0" smtClean="0">
                <a:solidFill>
                  <a:schemeClr val="accent1">
                    <a:lumMod val="50000"/>
                  </a:schemeClr>
                </a:solidFill>
              </a:rPr>
              <a:t>Ensemble </a:t>
            </a:r>
            <a:r>
              <a:rPr lang="en-IN" sz="2400" dirty="0">
                <a:solidFill>
                  <a:schemeClr val="accent1">
                    <a:lumMod val="50000"/>
                  </a:schemeClr>
                </a:solidFill>
              </a:rPr>
              <a:t>Learning: Combining multiple ML models (e.g., Random Forest + </a:t>
            </a:r>
            <a:r>
              <a:rPr lang="en-IN" sz="2400" dirty="0" err="1">
                <a:solidFill>
                  <a:schemeClr val="accent1">
                    <a:lumMod val="50000"/>
                  </a:schemeClr>
                </a:solidFill>
              </a:rPr>
              <a:t>XGBoost</a:t>
            </a:r>
            <a:r>
              <a:rPr lang="en-IN" sz="2400" dirty="0">
                <a:solidFill>
                  <a:schemeClr val="accent1">
                    <a:lumMod val="50000"/>
                  </a:schemeClr>
                </a:solidFill>
              </a:rPr>
              <a:t>) improves prediction accuracy</a:t>
            </a:r>
            <a:r>
              <a:rPr lang="en-IN" sz="2400" dirty="0" smtClean="0">
                <a:solidFill>
                  <a:schemeClr val="accent1">
                    <a:lumMod val="50000"/>
                  </a:schemeClr>
                </a:solidFill>
              </a:rPr>
              <a:t>.</a:t>
            </a:r>
            <a:endParaRPr lang="en-IN" sz="2400" dirty="0">
              <a:solidFill>
                <a:schemeClr val="accent1">
                  <a:lumMod val="50000"/>
                </a:schemeClr>
              </a:solidFill>
            </a:endParaRPr>
          </a:p>
          <a:p>
            <a:r>
              <a:rPr lang="en-IN" sz="2400" dirty="0">
                <a:solidFill>
                  <a:schemeClr val="accent1">
                    <a:lumMod val="50000"/>
                  </a:schemeClr>
                </a:solidFill>
              </a:rPr>
              <a:t>Customer Segmentation: Clustering techniques (e.g., K-Means, DBSCAN) help group customers based on churn risk</a:t>
            </a:r>
            <a:r>
              <a:rPr lang="en-IN" sz="2400" dirty="0" smtClean="0">
                <a:solidFill>
                  <a:schemeClr val="accent1">
                    <a:lumMod val="50000"/>
                  </a:schemeClr>
                </a:solidFill>
              </a:rPr>
              <a:t>.</a:t>
            </a:r>
            <a:endParaRPr lang="en-IN" sz="2400" dirty="0">
              <a:solidFill>
                <a:schemeClr val="accent1">
                  <a:lumMod val="50000"/>
                </a:schemeClr>
              </a:solidFill>
            </a:endParaRPr>
          </a:p>
          <a:p>
            <a:r>
              <a:rPr lang="en-IN" sz="2400" dirty="0">
                <a:solidFill>
                  <a:schemeClr val="accent1">
                    <a:lumMod val="50000"/>
                  </a:schemeClr>
                </a:solidFill>
              </a:rPr>
              <a:t>Retention Strategy Optimization: Predictive analytics helps businesses personalize marketing campaigns to reduce churn.</a:t>
            </a:r>
          </a:p>
        </p:txBody>
      </p:sp>
      <p:sp>
        <p:nvSpPr>
          <p:cNvPr id="8" name="TextBox 7"/>
          <p:cNvSpPr txBox="1"/>
          <p:nvPr/>
        </p:nvSpPr>
        <p:spPr>
          <a:xfrm>
            <a:off x="5261419" y="124252"/>
            <a:ext cx="2784021" cy="461665"/>
          </a:xfrm>
          <a:prstGeom prst="rect">
            <a:avLst/>
          </a:prstGeom>
          <a:noFill/>
        </p:spPr>
        <p:txBody>
          <a:bodyPr wrap="square" rtlCol="0">
            <a:spAutoFit/>
          </a:bodyPr>
          <a:lstStyle/>
          <a:p>
            <a:r>
              <a:rPr lang="en-IN" sz="2400" dirty="0" smtClean="0">
                <a:solidFill>
                  <a:schemeClr val="accent1">
                    <a:lumMod val="50000"/>
                  </a:schemeClr>
                </a:solidFill>
                <a:latin typeface="Bahnschrift Condensed" panose="020B0502040204020203" pitchFamily="34" charset="0"/>
              </a:rPr>
              <a:t>IISU-</a:t>
            </a:r>
            <a:r>
              <a:rPr lang="en-IN" sz="2400" dirty="0" smtClean="0">
                <a:solidFill>
                  <a:schemeClr val="accent1">
                    <a:lumMod val="75000"/>
                  </a:schemeClr>
                </a:solidFill>
                <a:latin typeface="Bahnschrift Condensed" panose="020B0502040204020203" pitchFamily="34" charset="0"/>
              </a:rPr>
              <a:t>ASSET</a:t>
            </a:r>
            <a:r>
              <a:rPr lang="en-IN" sz="2400" dirty="0" smtClean="0">
                <a:solidFill>
                  <a:schemeClr val="accent1">
                    <a:lumMod val="50000"/>
                  </a:schemeClr>
                </a:solidFill>
                <a:latin typeface="Bahnschrift Condensed" panose="020B0502040204020203" pitchFamily="34" charset="0"/>
              </a:rPr>
              <a:t> 2025</a:t>
            </a:r>
            <a:endParaRPr lang="en-IN" sz="2400" dirty="0">
              <a:solidFill>
                <a:schemeClr val="accent1">
                  <a:lumMod val="50000"/>
                </a:schemeClr>
              </a:solidFill>
              <a:latin typeface="Bahnschrift Condensed" panose="020B0502040204020203" pitchFamily="34" charset="0"/>
            </a:endParaRPr>
          </a:p>
        </p:txBody>
      </p:sp>
      <p:sp>
        <p:nvSpPr>
          <p:cNvPr id="9" name="Rectangle 8"/>
          <p:cNvSpPr/>
          <p:nvPr/>
        </p:nvSpPr>
        <p:spPr>
          <a:xfrm>
            <a:off x="0" y="6652418"/>
            <a:ext cx="12192000" cy="20558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0" y="6652418"/>
            <a:ext cx="383721" cy="2055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1921563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5111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6103" y="119821"/>
            <a:ext cx="864269" cy="511472"/>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2277" y="38879"/>
            <a:ext cx="719142" cy="693967"/>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87904" y="166163"/>
            <a:ext cx="1311877" cy="362406"/>
          </a:xfrm>
          <a:prstGeom prst="rect">
            <a:avLst/>
          </a:prstGeom>
        </p:spPr>
      </p:pic>
      <p:sp>
        <p:nvSpPr>
          <p:cNvPr id="2" name="Title 1"/>
          <p:cNvSpPr>
            <a:spLocks noGrp="1"/>
          </p:cNvSpPr>
          <p:nvPr>
            <p:ph type="title"/>
          </p:nvPr>
        </p:nvSpPr>
        <p:spPr>
          <a:xfrm>
            <a:off x="608238" y="753989"/>
            <a:ext cx="10515600" cy="976838"/>
          </a:xfrm>
        </p:spPr>
        <p:txBody>
          <a:bodyPr/>
          <a:lstStyle/>
          <a:p>
            <a:r>
              <a:rPr lang="en-IN" dirty="0" smtClean="0">
                <a:solidFill>
                  <a:schemeClr val="accent2"/>
                </a:solidFill>
                <a:latin typeface="Bahnschrift Condensed" panose="020B0502040204020203" pitchFamily="34" charset="0"/>
              </a:rPr>
              <a:t>Methodology</a:t>
            </a:r>
            <a:endParaRPr lang="en-IN" dirty="0">
              <a:solidFill>
                <a:schemeClr val="accent2"/>
              </a:solidFill>
              <a:latin typeface="Bahnschrift Condensed" panose="020B0502040204020203" pitchFamily="34" charset="0"/>
            </a:endParaRPr>
          </a:p>
        </p:txBody>
      </p:sp>
      <p:sp>
        <p:nvSpPr>
          <p:cNvPr id="3" name="Content Placeholder 2"/>
          <p:cNvSpPr>
            <a:spLocks noGrp="1"/>
          </p:cNvSpPr>
          <p:nvPr>
            <p:ph idx="1"/>
          </p:nvPr>
        </p:nvSpPr>
        <p:spPr>
          <a:xfrm>
            <a:off x="608237" y="1694994"/>
            <a:ext cx="11295291" cy="4837602"/>
          </a:xfrm>
        </p:spPr>
        <p:txBody>
          <a:bodyPr>
            <a:normAutofit/>
          </a:bodyPr>
          <a:lstStyle/>
          <a:p>
            <a:pPr marL="0" indent="0">
              <a:buNone/>
            </a:pPr>
            <a:r>
              <a:rPr lang="en-IN" sz="2400" b="1" dirty="0" smtClean="0">
                <a:solidFill>
                  <a:schemeClr val="accent1">
                    <a:lumMod val="50000"/>
                  </a:schemeClr>
                </a:solidFill>
              </a:rPr>
              <a:t>Data Pre-processing:</a:t>
            </a:r>
            <a:endParaRPr lang="en-IN" sz="2400" b="1" dirty="0">
              <a:solidFill>
                <a:schemeClr val="accent1">
                  <a:lumMod val="50000"/>
                </a:schemeClr>
              </a:solidFill>
            </a:endParaRPr>
          </a:p>
          <a:p>
            <a:r>
              <a:rPr lang="en-IN" sz="2400" dirty="0">
                <a:solidFill>
                  <a:schemeClr val="accent1">
                    <a:lumMod val="50000"/>
                  </a:schemeClr>
                </a:solidFill>
              </a:rPr>
              <a:t>Dataset Source: E-commerce platform (customer transactions &amp; </a:t>
            </a:r>
            <a:r>
              <a:rPr lang="en-IN" sz="2400" dirty="0" err="1">
                <a:solidFill>
                  <a:schemeClr val="accent1">
                    <a:lumMod val="50000"/>
                  </a:schemeClr>
                </a:solidFill>
              </a:rPr>
              <a:t>behavior</a:t>
            </a:r>
            <a:r>
              <a:rPr lang="en-IN" sz="2400" dirty="0" smtClean="0">
                <a:solidFill>
                  <a:schemeClr val="accent1">
                    <a:lumMod val="50000"/>
                  </a:schemeClr>
                </a:solidFill>
              </a:rPr>
              <a:t>).</a:t>
            </a:r>
            <a:endParaRPr lang="en-IN" sz="2400" dirty="0">
              <a:solidFill>
                <a:schemeClr val="accent1">
                  <a:lumMod val="50000"/>
                </a:schemeClr>
              </a:solidFill>
            </a:endParaRPr>
          </a:p>
          <a:p>
            <a:r>
              <a:rPr lang="en-IN" sz="2400" dirty="0">
                <a:solidFill>
                  <a:schemeClr val="accent1">
                    <a:lumMod val="50000"/>
                  </a:schemeClr>
                </a:solidFill>
              </a:rPr>
              <a:t>Feature Selection: Transaction frequency, platform usage, purchase </a:t>
            </a:r>
            <a:r>
              <a:rPr lang="en-IN" sz="2400" dirty="0" err="1">
                <a:solidFill>
                  <a:schemeClr val="accent1">
                    <a:lumMod val="50000"/>
                  </a:schemeClr>
                </a:solidFill>
              </a:rPr>
              <a:t>recency</a:t>
            </a:r>
            <a:r>
              <a:rPr lang="en-IN" sz="2400" dirty="0" smtClean="0">
                <a:solidFill>
                  <a:schemeClr val="accent1">
                    <a:lumMod val="50000"/>
                  </a:schemeClr>
                </a:solidFill>
              </a:rPr>
              <a:t>.</a:t>
            </a:r>
            <a:endParaRPr lang="en-IN" sz="2400" dirty="0">
              <a:solidFill>
                <a:schemeClr val="accent1">
                  <a:lumMod val="50000"/>
                </a:schemeClr>
              </a:solidFill>
            </a:endParaRPr>
          </a:p>
          <a:p>
            <a:r>
              <a:rPr lang="en-IN" sz="2400" dirty="0">
                <a:solidFill>
                  <a:schemeClr val="accent1">
                    <a:lumMod val="50000"/>
                  </a:schemeClr>
                </a:solidFill>
              </a:rPr>
              <a:t>Data Cleaning: Removed missing values, categorical encoding, standardization</a:t>
            </a:r>
            <a:r>
              <a:rPr lang="en-IN" sz="2400" dirty="0" smtClean="0">
                <a:solidFill>
                  <a:schemeClr val="accent1">
                    <a:lumMod val="50000"/>
                  </a:schemeClr>
                </a:solidFill>
              </a:rPr>
              <a:t>.</a:t>
            </a:r>
          </a:p>
          <a:p>
            <a:pPr marL="0" indent="0">
              <a:buNone/>
            </a:pPr>
            <a:endParaRPr lang="en-IN" sz="2400" b="1" dirty="0" smtClean="0">
              <a:solidFill>
                <a:schemeClr val="accent1">
                  <a:lumMod val="50000"/>
                </a:schemeClr>
              </a:solidFill>
            </a:endParaRPr>
          </a:p>
          <a:p>
            <a:pPr marL="0" indent="0">
              <a:buNone/>
            </a:pPr>
            <a:r>
              <a:rPr lang="en-IN" sz="2400" b="1" dirty="0" smtClean="0">
                <a:solidFill>
                  <a:schemeClr val="accent1">
                    <a:lumMod val="50000"/>
                  </a:schemeClr>
                </a:solidFill>
              </a:rPr>
              <a:t>Model </a:t>
            </a:r>
            <a:r>
              <a:rPr lang="en-IN" sz="2400" b="1" dirty="0">
                <a:solidFill>
                  <a:schemeClr val="accent1">
                    <a:lumMod val="50000"/>
                  </a:schemeClr>
                </a:solidFill>
              </a:rPr>
              <a:t>Selection &amp; Training</a:t>
            </a:r>
            <a:r>
              <a:rPr lang="en-IN" sz="2400" b="1" dirty="0" smtClean="0">
                <a:solidFill>
                  <a:schemeClr val="accent1">
                    <a:lumMod val="50000"/>
                  </a:schemeClr>
                </a:solidFill>
              </a:rPr>
              <a:t>:</a:t>
            </a:r>
            <a:endParaRPr lang="en-IN" sz="2400" b="1" dirty="0">
              <a:solidFill>
                <a:schemeClr val="accent1">
                  <a:lumMod val="50000"/>
                </a:schemeClr>
              </a:solidFill>
            </a:endParaRPr>
          </a:p>
          <a:p>
            <a:r>
              <a:rPr lang="en-IN" sz="2400" dirty="0">
                <a:solidFill>
                  <a:schemeClr val="accent1">
                    <a:lumMod val="50000"/>
                  </a:schemeClr>
                </a:solidFill>
              </a:rPr>
              <a:t>Used Decision Trees, Random Forest, Gradient Boosting, </a:t>
            </a:r>
            <a:r>
              <a:rPr lang="en-IN" sz="2400" dirty="0" err="1">
                <a:solidFill>
                  <a:schemeClr val="accent1">
                    <a:lumMod val="50000"/>
                  </a:schemeClr>
                </a:solidFill>
              </a:rPr>
              <a:t>XGBoost</a:t>
            </a:r>
            <a:r>
              <a:rPr lang="en-IN" sz="2400" dirty="0">
                <a:solidFill>
                  <a:schemeClr val="accent1">
                    <a:lumMod val="50000"/>
                  </a:schemeClr>
                </a:solidFill>
              </a:rPr>
              <a:t>, </a:t>
            </a:r>
            <a:r>
              <a:rPr lang="en-IN" sz="2400" dirty="0" err="1">
                <a:solidFill>
                  <a:schemeClr val="accent1">
                    <a:lumMod val="50000"/>
                  </a:schemeClr>
                </a:solidFill>
              </a:rPr>
              <a:t>LightGBM</a:t>
            </a:r>
            <a:r>
              <a:rPr lang="en-IN" sz="2400" dirty="0" smtClean="0">
                <a:solidFill>
                  <a:schemeClr val="accent1">
                    <a:lumMod val="50000"/>
                  </a:schemeClr>
                </a:solidFill>
              </a:rPr>
              <a:t>.</a:t>
            </a:r>
            <a:endParaRPr lang="en-IN" sz="2400" dirty="0">
              <a:solidFill>
                <a:schemeClr val="accent1">
                  <a:lumMod val="50000"/>
                </a:schemeClr>
              </a:solidFill>
            </a:endParaRPr>
          </a:p>
          <a:p>
            <a:r>
              <a:rPr lang="en-IN" sz="2400" dirty="0" err="1">
                <a:solidFill>
                  <a:schemeClr val="accent1">
                    <a:lumMod val="50000"/>
                  </a:schemeClr>
                </a:solidFill>
              </a:rPr>
              <a:t>Hyperparameter</a:t>
            </a:r>
            <a:r>
              <a:rPr lang="en-IN" sz="2400" dirty="0">
                <a:solidFill>
                  <a:schemeClr val="accent1">
                    <a:lumMod val="50000"/>
                  </a:schemeClr>
                </a:solidFill>
              </a:rPr>
              <a:t> tuning: </a:t>
            </a:r>
            <a:r>
              <a:rPr lang="en-IN" sz="2400" dirty="0" err="1">
                <a:solidFill>
                  <a:schemeClr val="accent1">
                    <a:lumMod val="50000"/>
                  </a:schemeClr>
                </a:solidFill>
              </a:rPr>
              <a:t>GridSearchCV</a:t>
            </a:r>
            <a:r>
              <a:rPr lang="en-IN" sz="2400" dirty="0">
                <a:solidFill>
                  <a:schemeClr val="accent1">
                    <a:lumMod val="50000"/>
                  </a:schemeClr>
                </a:solidFill>
              </a:rPr>
              <a:t> (5-fold cross-validation</a:t>
            </a:r>
            <a:r>
              <a:rPr lang="en-IN" sz="2400" dirty="0" smtClean="0">
                <a:solidFill>
                  <a:schemeClr val="accent1">
                    <a:lumMod val="50000"/>
                  </a:schemeClr>
                </a:solidFill>
              </a:rPr>
              <a:t>).</a:t>
            </a:r>
            <a:endParaRPr lang="en-IN" sz="2400" dirty="0">
              <a:solidFill>
                <a:schemeClr val="accent1">
                  <a:lumMod val="50000"/>
                </a:schemeClr>
              </a:solidFill>
            </a:endParaRPr>
          </a:p>
          <a:p>
            <a:r>
              <a:rPr lang="en-IN" sz="2400" dirty="0">
                <a:solidFill>
                  <a:schemeClr val="accent1">
                    <a:lumMod val="50000"/>
                  </a:schemeClr>
                </a:solidFill>
              </a:rPr>
              <a:t>Evaluation Metrics: Accuracy, Precision, Recall, F1-score, ROC-AUC.</a:t>
            </a:r>
          </a:p>
        </p:txBody>
      </p:sp>
      <p:sp>
        <p:nvSpPr>
          <p:cNvPr id="8" name="TextBox 7"/>
          <p:cNvSpPr txBox="1"/>
          <p:nvPr/>
        </p:nvSpPr>
        <p:spPr>
          <a:xfrm>
            <a:off x="5261419" y="124252"/>
            <a:ext cx="2784021" cy="461665"/>
          </a:xfrm>
          <a:prstGeom prst="rect">
            <a:avLst/>
          </a:prstGeom>
          <a:noFill/>
        </p:spPr>
        <p:txBody>
          <a:bodyPr wrap="square" rtlCol="0">
            <a:spAutoFit/>
          </a:bodyPr>
          <a:lstStyle/>
          <a:p>
            <a:r>
              <a:rPr lang="en-IN" sz="2400" dirty="0" smtClean="0">
                <a:solidFill>
                  <a:schemeClr val="accent1">
                    <a:lumMod val="50000"/>
                  </a:schemeClr>
                </a:solidFill>
                <a:latin typeface="Bahnschrift Condensed" panose="020B0502040204020203" pitchFamily="34" charset="0"/>
              </a:rPr>
              <a:t>IISU-</a:t>
            </a:r>
            <a:r>
              <a:rPr lang="en-IN" sz="2400" dirty="0" smtClean="0">
                <a:solidFill>
                  <a:schemeClr val="accent1">
                    <a:lumMod val="75000"/>
                  </a:schemeClr>
                </a:solidFill>
                <a:latin typeface="Bahnschrift Condensed" panose="020B0502040204020203" pitchFamily="34" charset="0"/>
              </a:rPr>
              <a:t>ASSET</a:t>
            </a:r>
            <a:r>
              <a:rPr lang="en-IN" sz="2400" dirty="0" smtClean="0">
                <a:solidFill>
                  <a:schemeClr val="accent1">
                    <a:lumMod val="50000"/>
                  </a:schemeClr>
                </a:solidFill>
                <a:latin typeface="Bahnschrift Condensed" panose="020B0502040204020203" pitchFamily="34" charset="0"/>
              </a:rPr>
              <a:t> 2025</a:t>
            </a:r>
            <a:endParaRPr lang="en-IN" sz="2400" dirty="0">
              <a:solidFill>
                <a:schemeClr val="accent1">
                  <a:lumMod val="50000"/>
                </a:schemeClr>
              </a:solidFill>
              <a:latin typeface="Bahnschrift Condensed" panose="020B0502040204020203" pitchFamily="34" charset="0"/>
            </a:endParaRPr>
          </a:p>
        </p:txBody>
      </p:sp>
      <p:sp>
        <p:nvSpPr>
          <p:cNvPr id="9" name="Rectangle 8"/>
          <p:cNvSpPr/>
          <p:nvPr/>
        </p:nvSpPr>
        <p:spPr>
          <a:xfrm>
            <a:off x="0" y="6652418"/>
            <a:ext cx="12192000" cy="20558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0" y="6652418"/>
            <a:ext cx="383721" cy="2055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367379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5111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6103" y="119821"/>
            <a:ext cx="864269" cy="511472"/>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2277" y="38879"/>
            <a:ext cx="719142" cy="693967"/>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87904" y="166163"/>
            <a:ext cx="1311877" cy="362406"/>
          </a:xfrm>
          <a:prstGeom prst="rect">
            <a:avLst/>
          </a:prstGeom>
        </p:spPr>
      </p:pic>
      <p:sp>
        <p:nvSpPr>
          <p:cNvPr id="2" name="Title 1"/>
          <p:cNvSpPr>
            <a:spLocks noGrp="1"/>
          </p:cNvSpPr>
          <p:nvPr>
            <p:ph type="title"/>
          </p:nvPr>
        </p:nvSpPr>
        <p:spPr>
          <a:xfrm>
            <a:off x="608238" y="753989"/>
            <a:ext cx="10515600" cy="976838"/>
          </a:xfrm>
        </p:spPr>
        <p:txBody>
          <a:bodyPr/>
          <a:lstStyle/>
          <a:p>
            <a:r>
              <a:rPr lang="en-IN" dirty="0" smtClean="0">
                <a:solidFill>
                  <a:schemeClr val="accent2"/>
                </a:solidFill>
                <a:latin typeface="Bahnschrift Condensed" panose="020B0502040204020203" pitchFamily="34" charset="0"/>
              </a:rPr>
              <a:t>Dataset (if any)</a:t>
            </a:r>
            <a:endParaRPr lang="en-IN" dirty="0">
              <a:solidFill>
                <a:schemeClr val="accent2"/>
              </a:solidFill>
              <a:latin typeface="Bahnschrift Condensed" panose="020B0502040204020203" pitchFamily="34" charset="0"/>
            </a:endParaRPr>
          </a:p>
        </p:txBody>
      </p:sp>
      <p:sp>
        <p:nvSpPr>
          <p:cNvPr id="3" name="Content Placeholder 2"/>
          <p:cNvSpPr>
            <a:spLocks noGrp="1"/>
          </p:cNvSpPr>
          <p:nvPr>
            <p:ph idx="1"/>
          </p:nvPr>
        </p:nvSpPr>
        <p:spPr>
          <a:xfrm>
            <a:off x="608237" y="1694994"/>
            <a:ext cx="11295291" cy="4837602"/>
          </a:xfrm>
        </p:spPr>
        <p:txBody>
          <a:bodyPr>
            <a:normAutofit/>
          </a:bodyPr>
          <a:lstStyle/>
          <a:p>
            <a:pPr marL="0" indent="0">
              <a:buNone/>
            </a:pPr>
            <a:r>
              <a:rPr lang="en-IN" sz="2400" b="1" dirty="0">
                <a:solidFill>
                  <a:schemeClr val="accent1">
                    <a:lumMod val="50000"/>
                  </a:schemeClr>
                </a:solidFill>
              </a:rPr>
              <a:t>Dataset Details</a:t>
            </a:r>
            <a:r>
              <a:rPr lang="en-IN" sz="2400" dirty="0">
                <a:solidFill>
                  <a:schemeClr val="accent1">
                    <a:lumMod val="50000"/>
                  </a:schemeClr>
                </a:solidFill>
              </a:rPr>
              <a:t>: Customer transaction data from an e-commerce platform.</a:t>
            </a:r>
          </a:p>
          <a:p>
            <a:pPr marL="0" indent="0">
              <a:buNone/>
            </a:pPr>
            <a:r>
              <a:rPr lang="en-IN" sz="2400" dirty="0" smtClean="0">
                <a:solidFill>
                  <a:schemeClr val="accent1">
                    <a:lumMod val="50000"/>
                  </a:schemeClr>
                </a:solidFill>
              </a:rPr>
              <a:t>We have considered below mentioned key variables:</a:t>
            </a:r>
            <a:endParaRPr lang="en-IN" sz="2400" dirty="0">
              <a:solidFill>
                <a:schemeClr val="accent1">
                  <a:lumMod val="50000"/>
                </a:schemeClr>
              </a:solidFill>
            </a:endParaRPr>
          </a:p>
          <a:p>
            <a:r>
              <a:rPr lang="en-IN" sz="2400" dirty="0">
                <a:solidFill>
                  <a:schemeClr val="accent1">
                    <a:lumMod val="50000"/>
                  </a:schemeClr>
                </a:solidFill>
              </a:rPr>
              <a:t>Transaction f</a:t>
            </a:r>
            <a:r>
              <a:rPr lang="en-IN" sz="2400" dirty="0" smtClean="0">
                <a:solidFill>
                  <a:schemeClr val="accent1">
                    <a:lumMod val="50000"/>
                  </a:schemeClr>
                </a:solidFill>
              </a:rPr>
              <a:t>requency like ‘How </a:t>
            </a:r>
            <a:r>
              <a:rPr lang="en-IN" sz="2400" dirty="0">
                <a:solidFill>
                  <a:schemeClr val="accent1">
                    <a:lumMod val="50000"/>
                  </a:schemeClr>
                </a:solidFill>
              </a:rPr>
              <a:t>often a customer makes </a:t>
            </a:r>
            <a:r>
              <a:rPr lang="en-IN" sz="2400" dirty="0" smtClean="0">
                <a:solidFill>
                  <a:schemeClr val="accent1">
                    <a:lumMod val="50000"/>
                  </a:schemeClr>
                </a:solidFill>
              </a:rPr>
              <a:t>purchases ?’</a:t>
            </a:r>
            <a:endParaRPr lang="en-IN" sz="2400" dirty="0">
              <a:solidFill>
                <a:schemeClr val="accent1">
                  <a:lumMod val="50000"/>
                </a:schemeClr>
              </a:solidFill>
            </a:endParaRPr>
          </a:p>
          <a:p>
            <a:r>
              <a:rPr lang="en-IN" sz="2400" dirty="0">
                <a:solidFill>
                  <a:schemeClr val="accent1">
                    <a:lumMod val="50000"/>
                  </a:schemeClr>
                </a:solidFill>
              </a:rPr>
              <a:t>Time </a:t>
            </a:r>
            <a:r>
              <a:rPr lang="en-IN" sz="2400" dirty="0" smtClean="0">
                <a:solidFill>
                  <a:schemeClr val="accent1">
                    <a:lumMod val="50000"/>
                  </a:schemeClr>
                </a:solidFill>
              </a:rPr>
              <a:t>spent </a:t>
            </a:r>
            <a:r>
              <a:rPr lang="en-IN" sz="2400" dirty="0">
                <a:solidFill>
                  <a:schemeClr val="accent1">
                    <a:lumMod val="50000"/>
                  </a:schemeClr>
                </a:solidFill>
              </a:rPr>
              <a:t>on </a:t>
            </a:r>
            <a:r>
              <a:rPr lang="en-IN" sz="2400" dirty="0" smtClean="0">
                <a:solidFill>
                  <a:schemeClr val="accent1">
                    <a:lumMod val="50000"/>
                  </a:schemeClr>
                </a:solidFill>
              </a:rPr>
              <a:t>platform which shows “Engagement levels”.</a:t>
            </a:r>
            <a:endParaRPr lang="en-IN" sz="2400" dirty="0">
              <a:solidFill>
                <a:schemeClr val="accent1">
                  <a:lumMod val="50000"/>
                </a:schemeClr>
              </a:solidFill>
            </a:endParaRPr>
          </a:p>
          <a:p>
            <a:r>
              <a:rPr lang="en-IN" sz="2400" dirty="0">
                <a:solidFill>
                  <a:schemeClr val="accent1">
                    <a:lumMod val="50000"/>
                  </a:schemeClr>
                </a:solidFill>
              </a:rPr>
              <a:t>Purchase </a:t>
            </a:r>
            <a:r>
              <a:rPr lang="en-IN" sz="2400" dirty="0" err="1">
                <a:solidFill>
                  <a:schemeClr val="accent1">
                    <a:lumMod val="50000"/>
                  </a:schemeClr>
                </a:solidFill>
              </a:rPr>
              <a:t>r</a:t>
            </a:r>
            <a:r>
              <a:rPr lang="en-IN" sz="2400" dirty="0" err="1" smtClean="0">
                <a:solidFill>
                  <a:schemeClr val="accent1">
                    <a:lumMod val="50000"/>
                  </a:schemeClr>
                </a:solidFill>
              </a:rPr>
              <a:t>ecency</a:t>
            </a:r>
            <a:r>
              <a:rPr lang="en-IN" sz="2400" dirty="0" smtClean="0">
                <a:solidFill>
                  <a:schemeClr val="accent1">
                    <a:lumMod val="50000"/>
                  </a:schemeClr>
                </a:solidFill>
              </a:rPr>
              <a:t> i.e. </a:t>
            </a:r>
            <a:r>
              <a:rPr lang="en-IN" sz="2400" dirty="0">
                <a:solidFill>
                  <a:schemeClr val="accent1">
                    <a:lumMod val="50000"/>
                  </a:schemeClr>
                </a:solidFill>
              </a:rPr>
              <a:t>Last transaction date</a:t>
            </a:r>
            <a:r>
              <a:rPr lang="en-IN" sz="2400" dirty="0" smtClean="0">
                <a:solidFill>
                  <a:schemeClr val="accent1">
                    <a:lumMod val="50000"/>
                  </a:schemeClr>
                </a:solidFill>
              </a:rPr>
              <a:t>.</a:t>
            </a:r>
            <a:endParaRPr lang="en-IN" sz="2400" dirty="0">
              <a:solidFill>
                <a:schemeClr val="accent1">
                  <a:lumMod val="50000"/>
                </a:schemeClr>
              </a:solidFill>
            </a:endParaRPr>
          </a:p>
          <a:p>
            <a:r>
              <a:rPr lang="en-IN" sz="2400" dirty="0" err="1">
                <a:solidFill>
                  <a:schemeClr val="accent1">
                    <a:lumMod val="50000"/>
                  </a:schemeClr>
                </a:solidFill>
              </a:rPr>
              <a:t>Preprocessing</a:t>
            </a:r>
            <a:r>
              <a:rPr lang="en-IN" sz="2400" dirty="0">
                <a:solidFill>
                  <a:schemeClr val="accent1">
                    <a:lumMod val="50000"/>
                  </a:schemeClr>
                </a:solidFill>
              </a:rPr>
              <a:t> Steps: Standardization, categorical encoding, handling missing values.</a:t>
            </a:r>
          </a:p>
        </p:txBody>
      </p:sp>
      <p:sp>
        <p:nvSpPr>
          <p:cNvPr id="8" name="TextBox 7"/>
          <p:cNvSpPr txBox="1"/>
          <p:nvPr/>
        </p:nvSpPr>
        <p:spPr>
          <a:xfrm>
            <a:off x="5261419" y="124252"/>
            <a:ext cx="2784021" cy="461665"/>
          </a:xfrm>
          <a:prstGeom prst="rect">
            <a:avLst/>
          </a:prstGeom>
          <a:noFill/>
        </p:spPr>
        <p:txBody>
          <a:bodyPr wrap="square" rtlCol="0">
            <a:spAutoFit/>
          </a:bodyPr>
          <a:lstStyle/>
          <a:p>
            <a:r>
              <a:rPr lang="en-IN" sz="2400" dirty="0" smtClean="0">
                <a:solidFill>
                  <a:schemeClr val="accent1">
                    <a:lumMod val="50000"/>
                  </a:schemeClr>
                </a:solidFill>
                <a:latin typeface="Bahnschrift Condensed" panose="020B0502040204020203" pitchFamily="34" charset="0"/>
              </a:rPr>
              <a:t>IISU-</a:t>
            </a:r>
            <a:r>
              <a:rPr lang="en-IN" sz="2400" dirty="0" smtClean="0">
                <a:solidFill>
                  <a:schemeClr val="accent1">
                    <a:lumMod val="75000"/>
                  </a:schemeClr>
                </a:solidFill>
                <a:latin typeface="Bahnschrift Condensed" panose="020B0502040204020203" pitchFamily="34" charset="0"/>
              </a:rPr>
              <a:t>ASSET</a:t>
            </a:r>
            <a:r>
              <a:rPr lang="en-IN" sz="2400" dirty="0" smtClean="0">
                <a:solidFill>
                  <a:schemeClr val="accent1">
                    <a:lumMod val="50000"/>
                  </a:schemeClr>
                </a:solidFill>
                <a:latin typeface="Bahnschrift Condensed" panose="020B0502040204020203" pitchFamily="34" charset="0"/>
              </a:rPr>
              <a:t> 2025</a:t>
            </a:r>
            <a:endParaRPr lang="en-IN" sz="2400" dirty="0">
              <a:solidFill>
                <a:schemeClr val="accent1">
                  <a:lumMod val="50000"/>
                </a:schemeClr>
              </a:solidFill>
              <a:latin typeface="Bahnschrift Condensed" panose="020B0502040204020203" pitchFamily="34" charset="0"/>
            </a:endParaRPr>
          </a:p>
        </p:txBody>
      </p:sp>
      <p:sp>
        <p:nvSpPr>
          <p:cNvPr id="9" name="Rectangle 8"/>
          <p:cNvSpPr/>
          <p:nvPr/>
        </p:nvSpPr>
        <p:spPr>
          <a:xfrm>
            <a:off x="0" y="6652418"/>
            <a:ext cx="12192000" cy="20558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0" y="6652418"/>
            <a:ext cx="383721" cy="2055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908681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5111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6103" y="119821"/>
            <a:ext cx="864269" cy="511472"/>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2277" y="38879"/>
            <a:ext cx="719142" cy="693967"/>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87904" y="166163"/>
            <a:ext cx="1311877" cy="362406"/>
          </a:xfrm>
          <a:prstGeom prst="rect">
            <a:avLst/>
          </a:prstGeom>
        </p:spPr>
      </p:pic>
      <p:sp>
        <p:nvSpPr>
          <p:cNvPr id="2" name="Title 1"/>
          <p:cNvSpPr>
            <a:spLocks noGrp="1"/>
          </p:cNvSpPr>
          <p:nvPr>
            <p:ph type="title"/>
          </p:nvPr>
        </p:nvSpPr>
        <p:spPr>
          <a:xfrm>
            <a:off x="608238" y="753989"/>
            <a:ext cx="10515600" cy="976838"/>
          </a:xfrm>
        </p:spPr>
        <p:txBody>
          <a:bodyPr/>
          <a:lstStyle/>
          <a:p>
            <a:r>
              <a:rPr lang="en-IN" dirty="0" smtClean="0">
                <a:solidFill>
                  <a:schemeClr val="accent2"/>
                </a:solidFill>
                <a:latin typeface="Bahnschrift Condensed" panose="020B0502040204020203" pitchFamily="34" charset="0"/>
              </a:rPr>
              <a:t>Results &amp; Discussions</a:t>
            </a:r>
            <a:endParaRPr lang="en-IN" dirty="0">
              <a:solidFill>
                <a:schemeClr val="accent2"/>
              </a:solidFill>
              <a:latin typeface="Bahnschrift Condensed" panose="020B0502040204020203" pitchFamily="34" charset="0"/>
            </a:endParaRPr>
          </a:p>
        </p:txBody>
      </p:sp>
      <p:sp>
        <p:nvSpPr>
          <p:cNvPr id="3" name="Content Placeholder 2"/>
          <p:cNvSpPr>
            <a:spLocks noGrp="1"/>
          </p:cNvSpPr>
          <p:nvPr>
            <p:ph idx="1"/>
          </p:nvPr>
        </p:nvSpPr>
        <p:spPr>
          <a:xfrm>
            <a:off x="608237" y="1694994"/>
            <a:ext cx="11295291" cy="4837602"/>
          </a:xfrm>
        </p:spPr>
        <p:txBody>
          <a:bodyPr>
            <a:normAutofit/>
          </a:bodyPr>
          <a:lstStyle/>
          <a:p>
            <a:pPr marL="0" indent="0">
              <a:buNone/>
            </a:pPr>
            <a:r>
              <a:rPr lang="en-IN" sz="2400" dirty="0" smtClean="0">
                <a:solidFill>
                  <a:schemeClr val="accent1">
                    <a:lumMod val="50000"/>
                  </a:schemeClr>
                </a:solidFill>
              </a:rPr>
              <a:t>Model Performance:</a:t>
            </a:r>
          </a:p>
          <a:p>
            <a:pPr marL="0" indent="0">
              <a:buNone/>
            </a:pPr>
            <a:endParaRPr lang="en-IN" sz="2400" dirty="0">
              <a:solidFill>
                <a:schemeClr val="accent1">
                  <a:lumMod val="50000"/>
                </a:schemeClr>
              </a:solidFill>
            </a:endParaRPr>
          </a:p>
          <a:p>
            <a:pPr marL="0" indent="0">
              <a:buNone/>
            </a:pPr>
            <a:endParaRPr lang="en-IN" sz="2400" dirty="0" smtClean="0">
              <a:solidFill>
                <a:schemeClr val="accent1">
                  <a:lumMod val="50000"/>
                </a:schemeClr>
              </a:solidFill>
            </a:endParaRPr>
          </a:p>
          <a:p>
            <a:pPr marL="0" indent="0">
              <a:buNone/>
            </a:pPr>
            <a:endParaRPr lang="en-IN" sz="2400" dirty="0">
              <a:solidFill>
                <a:schemeClr val="accent1">
                  <a:lumMod val="50000"/>
                </a:schemeClr>
              </a:solidFill>
            </a:endParaRPr>
          </a:p>
          <a:p>
            <a:pPr marL="0" indent="0">
              <a:buNone/>
            </a:pPr>
            <a:endParaRPr lang="en-IN" sz="2400" dirty="0" smtClean="0">
              <a:solidFill>
                <a:schemeClr val="accent1">
                  <a:lumMod val="50000"/>
                </a:schemeClr>
              </a:solidFill>
            </a:endParaRPr>
          </a:p>
          <a:p>
            <a:pPr marL="0" indent="0">
              <a:buNone/>
            </a:pPr>
            <a:endParaRPr lang="en-IN" sz="2400" dirty="0">
              <a:solidFill>
                <a:schemeClr val="accent1">
                  <a:lumMod val="50000"/>
                </a:schemeClr>
              </a:solidFill>
            </a:endParaRPr>
          </a:p>
          <a:p>
            <a:r>
              <a:rPr lang="en-US" sz="2400" dirty="0" smtClean="0">
                <a:solidFill>
                  <a:schemeClr val="accent1">
                    <a:lumMod val="50000"/>
                  </a:schemeClr>
                </a:solidFill>
              </a:rPr>
              <a:t>Voting </a:t>
            </a:r>
            <a:r>
              <a:rPr lang="en-US" sz="2400" dirty="0">
                <a:solidFill>
                  <a:schemeClr val="accent1">
                    <a:lumMod val="50000"/>
                  </a:schemeClr>
                </a:solidFill>
              </a:rPr>
              <a:t>Classifier outperformed other models with the highest prediction accuracy</a:t>
            </a:r>
            <a:r>
              <a:rPr lang="en-US" sz="2400" dirty="0" smtClean="0">
                <a:solidFill>
                  <a:schemeClr val="accent1">
                    <a:lumMod val="50000"/>
                  </a:schemeClr>
                </a:solidFill>
              </a:rPr>
              <a:t>.</a:t>
            </a:r>
            <a:endParaRPr lang="en-US" sz="2400" dirty="0">
              <a:solidFill>
                <a:schemeClr val="accent1">
                  <a:lumMod val="50000"/>
                </a:schemeClr>
              </a:solidFill>
            </a:endParaRPr>
          </a:p>
          <a:p>
            <a:r>
              <a:rPr lang="en-US" sz="2400" dirty="0">
                <a:solidFill>
                  <a:schemeClr val="accent1">
                    <a:lumMod val="50000"/>
                  </a:schemeClr>
                </a:solidFill>
              </a:rPr>
              <a:t>Ensemble models (Random Forest, </a:t>
            </a:r>
            <a:r>
              <a:rPr lang="en-US" sz="2400" dirty="0" err="1">
                <a:solidFill>
                  <a:schemeClr val="accent1">
                    <a:lumMod val="50000"/>
                  </a:schemeClr>
                </a:solidFill>
              </a:rPr>
              <a:t>XGBoost</a:t>
            </a:r>
            <a:r>
              <a:rPr lang="en-US" sz="2400" dirty="0">
                <a:solidFill>
                  <a:schemeClr val="accent1">
                    <a:lumMod val="50000"/>
                  </a:schemeClr>
                </a:solidFill>
              </a:rPr>
              <a:t>) provided superior results</a:t>
            </a:r>
            <a:r>
              <a:rPr lang="en-US" sz="2400" dirty="0" smtClean="0">
                <a:solidFill>
                  <a:schemeClr val="accent1">
                    <a:lumMod val="50000"/>
                  </a:schemeClr>
                </a:solidFill>
              </a:rPr>
              <a:t>.</a:t>
            </a:r>
            <a:endParaRPr lang="en-US" sz="2400" dirty="0">
              <a:solidFill>
                <a:schemeClr val="accent1">
                  <a:lumMod val="50000"/>
                </a:schemeClr>
              </a:solidFill>
            </a:endParaRPr>
          </a:p>
          <a:p>
            <a:r>
              <a:rPr lang="en-US" sz="2400" dirty="0">
                <a:solidFill>
                  <a:schemeClr val="accent1">
                    <a:lumMod val="50000"/>
                  </a:schemeClr>
                </a:solidFill>
              </a:rPr>
              <a:t>Feature Importance Analysis</a:t>
            </a:r>
            <a:r>
              <a:rPr lang="en-US" sz="2400" dirty="0" smtClean="0">
                <a:solidFill>
                  <a:schemeClr val="accent1">
                    <a:lumMod val="50000"/>
                  </a:schemeClr>
                </a:solidFill>
              </a:rPr>
              <a:t>:</a:t>
            </a:r>
            <a:endParaRPr lang="en-US" sz="2400" dirty="0">
              <a:solidFill>
                <a:schemeClr val="accent1">
                  <a:lumMod val="50000"/>
                </a:schemeClr>
              </a:solidFill>
            </a:endParaRPr>
          </a:p>
          <a:p>
            <a:pPr lvl="1"/>
            <a:r>
              <a:rPr lang="en-US" dirty="0">
                <a:solidFill>
                  <a:schemeClr val="accent1">
                    <a:lumMod val="50000"/>
                  </a:schemeClr>
                </a:solidFill>
              </a:rPr>
              <a:t>Transaction history, platform usage, and </a:t>
            </a:r>
            <a:r>
              <a:rPr lang="en-US" dirty="0" err="1">
                <a:solidFill>
                  <a:schemeClr val="accent1">
                    <a:lumMod val="50000"/>
                  </a:schemeClr>
                </a:solidFill>
              </a:rPr>
              <a:t>recency</a:t>
            </a:r>
            <a:r>
              <a:rPr lang="en-US" dirty="0">
                <a:solidFill>
                  <a:schemeClr val="accent1">
                    <a:lumMod val="50000"/>
                  </a:schemeClr>
                </a:solidFill>
              </a:rPr>
              <a:t> of purchase were key predictors of churn.</a:t>
            </a:r>
            <a:endParaRPr lang="en-IN" dirty="0">
              <a:solidFill>
                <a:schemeClr val="accent1">
                  <a:lumMod val="50000"/>
                </a:schemeClr>
              </a:solidFill>
            </a:endParaRPr>
          </a:p>
        </p:txBody>
      </p:sp>
      <p:sp>
        <p:nvSpPr>
          <p:cNvPr id="8" name="TextBox 7"/>
          <p:cNvSpPr txBox="1"/>
          <p:nvPr/>
        </p:nvSpPr>
        <p:spPr>
          <a:xfrm>
            <a:off x="5261419" y="124252"/>
            <a:ext cx="2784021" cy="461665"/>
          </a:xfrm>
          <a:prstGeom prst="rect">
            <a:avLst/>
          </a:prstGeom>
          <a:noFill/>
        </p:spPr>
        <p:txBody>
          <a:bodyPr wrap="square" rtlCol="0">
            <a:spAutoFit/>
          </a:bodyPr>
          <a:lstStyle/>
          <a:p>
            <a:r>
              <a:rPr lang="en-IN" sz="2400" dirty="0" smtClean="0">
                <a:solidFill>
                  <a:schemeClr val="accent1">
                    <a:lumMod val="50000"/>
                  </a:schemeClr>
                </a:solidFill>
                <a:latin typeface="Bahnschrift Condensed" panose="020B0502040204020203" pitchFamily="34" charset="0"/>
              </a:rPr>
              <a:t>IISU-</a:t>
            </a:r>
            <a:r>
              <a:rPr lang="en-IN" sz="2400" dirty="0" smtClean="0">
                <a:solidFill>
                  <a:schemeClr val="accent1">
                    <a:lumMod val="75000"/>
                  </a:schemeClr>
                </a:solidFill>
                <a:latin typeface="Bahnschrift Condensed" panose="020B0502040204020203" pitchFamily="34" charset="0"/>
              </a:rPr>
              <a:t>ASSET</a:t>
            </a:r>
            <a:r>
              <a:rPr lang="en-IN" sz="2400" dirty="0" smtClean="0">
                <a:solidFill>
                  <a:schemeClr val="accent1">
                    <a:lumMod val="50000"/>
                  </a:schemeClr>
                </a:solidFill>
                <a:latin typeface="Bahnschrift Condensed" panose="020B0502040204020203" pitchFamily="34" charset="0"/>
              </a:rPr>
              <a:t> 2025</a:t>
            </a:r>
            <a:endParaRPr lang="en-IN" sz="2400" dirty="0">
              <a:solidFill>
                <a:schemeClr val="accent1">
                  <a:lumMod val="50000"/>
                </a:schemeClr>
              </a:solidFill>
              <a:latin typeface="Bahnschrift Condensed" panose="020B0502040204020203" pitchFamily="34" charset="0"/>
            </a:endParaRPr>
          </a:p>
        </p:txBody>
      </p:sp>
      <p:sp>
        <p:nvSpPr>
          <p:cNvPr id="9" name="Rectangle 8"/>
          <p:cNvSpPr/>
          <p:nvPr/>
        </p:nvSpPr>
        <p:spPr>
          <a:xfrm>
            <a:off x="0" y="6652418"/>
            <a:ext cx="12192000" cy="20558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0" y="6652418"/>
            <a:ext cx="383721" cy="2055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3" name="Table 12"/>
          <p:cNvGraphicFramePr>
            <a:graphicFrameLocks noGrp="1"/>
          </p:cNvGraphicFramePr>
          <p:nvPr>
            <p:extLst>
              <p:ext uri="{D42A27DB-BD31-4B8C-83A1-F6EECF244321}">
                <p14:modId xmlns:p14="http://schemas.microsoft.com/office/powerpoint/2010/main" val="1965857131"/>
              </p:ext>
            </p:extLst>
          </p:nvPr>
        </p:nvGraphicFramePr>
        <p:xfrm>
          <a:off x="729086" y="2284995"/>
          <a:ext cx="5122986" cy="1828800"/>
        </p:xfrm>
        <a:graphic>
          <a:graphicData uri="http://schemas.openxmlformats.org/drawingml/2006/table">
            <a:tbl>
              <a:tblPr>
                <a:tableStyleId>{5DA37D80-6434-44D0-A028-1B22A696006F}</a:tableStyleId>
              </a:tblPr>
              <a:tblGrid>
                <a:gridCol w="2561493">
                  <a:extLst>
                    <a:ext uri="{9D8B030D-6E8A-4147-A177-3AD203B41FA5}">
                      <a16:colId xmlns:a16="http://schemas.microsoft.com/office/drawing/2014/main" val="2841868325"/>
                    </a:ext>
                  </a:extLst>
                </a:gridCol>
                <a:gridCol w="2561493">
                  <a:extLst>
                    <a:ext uri="{9D8B030D-6E8A-4147-A177-3AD203B41FA5}">
                      <a16:colId xmlns:a16="http://schemas.microsoft.com/office/drawing/2014/main" val="2014265689"/>
                    </a:ext>
                  </a:extLst>
                </a:gridCol>
              </a:tblGrid>
              <a:tr h="349933">
                <a:tc>
                  <a:txBody>
                    <a:bodyPr/>
                    <a:lstStyle/>
                    <a:p>
                      <a:r>
                        <a:rPr lang="en-IN" dirty="0">
                          <a:solidFill>
                            <a:schemeClr val="accent1">
                              <a:lumMod val="50000"/>
                            </a:schemeClr>
                          </a:solidFill>
                        </a:rPr>
                        <a:t>Model</a:t>
                      </a:r>
                    </a:p>
                  </a:txBody>
                  <a:tcPr anchor="ctr"/>
                </a:tc>
                <a:tc>
                  <a:txBody>
                    <a:bodyPr/>
                    <a:lstStyle/>
                    <a:p>
                      <a:r>
                        <a:rPr lang="en-IN">
                          <a:solidFill>
                            <a:schemeClr val="accent1">
                              <a:lumMod val="50000"/>
                            </a:schemeClr>
                          </a:solidFill>
                        </a:rPr>
                        <a:t>Accuracy (%)</a:t>
                      </a:r>
                    </a:p>
                  </a:txBody>
                  <a:tcPr anchor="ctr"/>
                </a:tc>
                <a:extLst>
                  <a:ext uri="{0D108BD9-81ED-4DB2-BD59-A6C34878D82A}">
                    <a16:rowId xmlns:a16="http://schemas.microsoft.com/office/drawing/2014/main" val="4077489348"/>
                  </a:ext>
                </a:extLst>
              </a:tr>
              <a:tr h="349933">
                <a:tc>
                  <a:txBody>
                    <a:bodyPr/>
                    <a:lstStyle/>
                    <a:p>
                      <a:r>
                        <a:rPr lang="en-IN" dirty="0">
                          <a:solidFill>
                            <a:schemeClr val="accent1">
                              <a:lumMod val="50000"/>
                            </a:schemeClr>
                          </a:solidFill>
                        </a:rPr>
                        <a:t>Stacking Classifier</a:t>
                      </a:r>
                    </a:p>
                  </a:txBody>
                  <a:tcPr anchor="ctr"/>
                </a:tc>
                <a:tc>
                  <a:txBody>
                    <a:bodyPr/>
                    <a:lstStyle/>
                    <a:p>
                      <a:r>
                        <a:rPr lang="en-IN">
                          <a:solidFill>
                            <a:schemeClr val="accent1">
                              <a:lumMod val="50000"/>
                            </a:schemeClr>
                          </a:solidFill>
                        </a:rPr>
                        <a:t>97.33</a:t>
                      </a:r>
                    </a:p>
                  </a:txBody>
                  <a:tcPr anchor="ctr"/>
                </a:tc>
                <a:extLst>
                  <a:ext uri="{0D108BD9-81ED-4DB2-BD59-A6C34878D82A}">
                    <a16:rowId xmlns:a16="http://schemas.microsoft.com/office/drawing/2014/main" val="1194444586"/>
                  </a:ext>
                </a:extLst>
              </a:tr>
              <a:tr h="349933">
                <a:tc>
                  <a:txBody>
                    <a:bodyPr/>
                    <a:lstStyle/>
                    <a:p>
                      <a:r>
                        <a:rPr lang="en-IN" dirty="0">
                          <a:solidFill>
                            <a:schemeClr val="accent1">
                              <a:lumMod val="50000"/>
                            </a:schemeClr>
                          </a:solidFill>
                        </a:rPr>
                        <a:t>Bagging Classifier</a:t>
                      </a:r>
                    </a:p>
                  </a:txBody>
                  <a:tcPr anchor="ctr"/>
                </a:tc>
                <a:tc>
                  <a:txBody>
                    <a:bodyPr/>
                    <a:lstStyle/>
                    <a:p>
                      <a:r>
                        <a:rPr lang="en-IN">
                          <a:solidFill>
                            <a:schemeClr val="accent1">
                              <a:lumMod val="50000"/>
                            </a:schemeClr>
                          </a:solidFill>
                        </a:rPr>
                        <a:t>94.84</a:t>
                      </a:r>
                    </a:p>
                  </a:txBody>
                  <a:tcPr anchor="ctr"/>
                </a:tc>
                <a:extLst>
                  <a:ext uri="{0D108BD9-81ED-4DB2-BD59-A6C34878D82A}">
                    <a16:rowId xmlns:a16="http://schemas.microsoft.com/office/drawing/2014/main" val="1646245920"/>
                  </a:ext>
                </a:extLst>
              </a:tr>
              <a:tr h="349933">
                <a:tc>
                  <a:txBody>
                    <a:bodyPr/>
                    <a:lstStyle/>
                    <a:p>
                      <a:r>
                        <a:rPr lang="en-IN" dirty="0">
                          <a:solidFill>
                            <a:schemeClr val="accent1">
                              <a:lumMod val="50000"/>
                            </a:schemeClr>
                          </a:solidFill>
                        </a:rPr>
                        <a:t>Voting Classifier</a:t>
                      </a:r>
                    </a:p>
                  </a:txBody>
                  <a:tcPr anchor="ctr"/>
                </a:tc>
                <a:tc>
                  <a:txBody>
                    <a:bodyPr/>
                    <a:lstStyle/>
                    <a:p>
                      <a:r>
                        <a:rPr lang="en-IN" dirty="0">
                          <a:solidFill>
                            <a:schemeClr val="accent1">
                              <a:lumMod val="50000"/>
                            </a:schemeClr>
                          </a:solidFill>
                        </a:rPr>
                        <a:t>96.81</a:t>
                      </a:r>
                    </a:p>
                  </a:txBody>
                  <a:tcPr anchor="ctr"/>
                </a:tc>
                <a:extLst>
                  <a:ext uri="{0D108BD9-81ED-4DB2-BD59-A6C34878D82A}">
                    <a16:rowId xmlns:a16="http://schemas.microsoft.com/office/drawing/2014/main" val="166282608"/>
                  </a:ext>
                </a:extLst>
              </a:tr>
              <a:tr h="349933">
                <a:tc>
                  <a:txBody>
                    <a:bodyPr/>
                    <a:lstStyle/>
                    <a:p>
                      <a:r>
                        <a:rPr lang="en-IN">
                          <a:solidFill>
                            <a:schemeClr val="accent1">
                              <a:lumMod val="50000"/>
                            </a:schemeClr>
                          </a:solidFill>
                        </a:rPr>
                        <a:t>Tuned Stacking Classifier</a:t>
                      </a:r>
                    </a:p>
                  </a:txBody>
                  <a:tcPr anchor="ctr"/>
                </a:tc>
                <a:tc>
                  <a:txBody>
                    <a:bodyPr/>
                    <a:lstStyle/>
                    <a:p>
                      <a:r>
                        <a:rPr lang="en-IN" dirty="0">
                          <a:solidFill>
                            <a:schemeClr val="accent1">
                              <a:lumMod val="50000"/>
                            </a:schemeClr>
                          </a:solidFill>
                        </a:rPr>
                        <a:t>97.51</a:t>
                      </a:r>
                    </a:p>
                  </a:txBody>
                  <a:tcPr anchor="ctr"/>
                </a:tc>
                <a:extLst>
                  <a:ext uri="{0D108BD9-81ED-4DB2-BD59-A6C34878D82A}">
                    <a16:rowId xmlns:a16="http://schemas.microsoft.com/office/drawing/2014/main" val="2400629543"/>
                  </a:ext>
                </a:extLst>
              </a:tr>
            </a:tbl>
          </a:graphicData>
        </a:graphic>
      </p:graphicFrame>
      <p:pic>
        <p:nvPicPr>
          <p:cNvPr id="11" name="Picture 10"/>
          <p:cNvPicPr>
            <a:picLocks noChangeAspect="1"/>
          </p:cNvPicPr>
          <p:nvPr/>
        </p:nvPicPr>
        <p:blipFill>
          <a:blip r:embed="rId5"/>
          <a:stretch>
            <a:fillRect/>
          </a:stretch>
        </p:blipFill>
        <p:spPr>
          <a:xfrm>
            <a:off x="6972795" y="1575172"/>
            <a:ext cx="4271892" cy="2649424"/>
          </a:xfrm>
          <a:prstGeom prst="rect">
            <a:avLst/>
          </a:prstGeom>
        </p:spPr>
      </p:pic>
      <p:sp>
        <p:nvSpPr>
          <p:cNvPr id="12" name="Rectangle 11"/>
          <p:cNvSpPr/>
          <p:nvPr/>
        </p:nvSpPr>
        <p:spPr>
          <a:xfrm>
            <a:off x="7060718" y="890003"/>
            <a:ext cx="4063119" cy="738664"/>
          </a:xfrm>
          <a:prstGeom prst="rect">
            <a:avLst/>
          </a:prstGeom>
        </p:spPr>
        <p:txBody>
          <a:bodyPr wrap="square">
            <a:spAutoFit/>
          </a:bodyPr>
          <a:lstStyle/>
          <a:p>
            <a:pPr algn="ctr"/>
            <a:r>
              <a:rPr lang="en-US" sz="1050" dirty="0" smtClean="0">
                <a:solidFill>
                  <a:schemeClr val="accent1">
                    <a:lumMod val="50000"/>
                  </a:schemeClr>
                </a:solidFill>
                <a:latin typeface="Times New Roman" panose="02020603050405020304" pitchFamily="18" charset="0"/>
              </a:rPr>
              <a:t>Model performance is measured by the AUC (Area under the ROC Curve), which goes from 0.5 for random guessing to 1.0 for perfect accuracy. An elevated AUC signifies superior model effectiveness in distinguishing between classes. </a:t>
            </a:r>
            <a:endParaRPr lang="en-IN" sz="1050" dirty="0">
              <a:solidFill>
                <a:schemeClr val="accent1">
                  <a:lumMod val="50000"/>
                </a:schemeClr>
              </a:solidFill>
            </a:endParaRPr>
          </a:p>
        </p:txBody>
      </p:sp>
    </p:spTree>
    <p:extLst>
      <p:ext uri="{BB962C8B-B14F-4D97-AF65-F5344CB8AC3E}">
        <p14:creationId xmlns:p14="http://schemas.microsoft.com/office/powerpoint/2010/main" val="34733934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5111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6103" y="119821"/>
            <a:ext cx="864269" cy="511472"/>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2277" y="38879"/>
            <a:ext cx="719142" cy="693967"/>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87904" y="166163"/>
            <a:ext cx="1311877" cy="362406"/>
          </a:xfrm>
          <a:prstGeom prst="rect">
            <a:avLst/>
          </a:prstGeom>
        </p:spPr>
      </p:pic>
      <p:sp>
        <p:nvSpPr>
          <p:cNvPr id="2" name="Title 1"/>
          <p:cNvSpPr>
            <a:spLocks noGrp="1"/>
          </p:cNvSpPr>
          <p:nvPr>
            <p:ph type="title"/>
          </p:nvPr>
        </p:nvSpPr>
        <p:spPr>
          <a:xfrm>
            <a:off x="608238" y="753989"/>
            <a:ext cx="10515600" cy="976838"/>
          </a:xfrm>
        </p:spPr>
        <p:txBody>
          <a:bodyPr/>
          <a:lstStyle/>
          <a:p>
            <a:r>
              <a:rPr lang="en-IN" dirty="0" smtClean="0">
                <a:solidFill>
                  <a:schemeClr val="accent2"/>
                </a:solidFill>
                <a:latin typeface="Bahnschrift Condensed" panose="020B0502040204020203" pitchFamily="34" charset="0"/>
              </a:rPr>
              <a:t>Conclusion &amp; Future work</a:t>
            </a:r>
            <a:endParaRPr lang="en-IN" dirty="0">
              <a:solidFill>
                <a:schemeClr val="accent2"/>
              </a:solidFill>
              <a:latin typeface="Bahnschrift Condensed" panose="020B0502040204020203" pitchFamily="34" charset="0"/>
            </a:endParaRPr>
          </a:p>
        </p:txBody>
      </p:sp>
      <p:sp>
        <p:nvSpPr>
          <p:cNvPr id="3" name="Content Placeholder 2"/>
          <p:cNvSpPr>
            <a:spLocks noGrp="1"/>
          </p:cNvSpPr>
          <p:nvPr>
            <p:ph idx="1"/>
          </p:nvPr>
        </p:nvSpPr>
        <p:spPr>
          <a:xfrm>
            <a:off x="608237" y="1694994"/>
            <a:ext cx="11295291" cy="4837602"/>
          </a:xfrm>
        </p:spPr>
        <p:txBody>
          <a:bodyPr>
            <a:normAutofit/>
          </a:bodyPr>
          <a:lstStyle/>
          <a:p>
            <a:pPr marL="0" indent="0">
              <a:buNone/>
            </a:pPr>
            <a:r>
              <a:rPr lang="en-IN" sz="2400" b="1" dirty="0">
                <a:solidFill>
                  <a:schemeClr val="accent1">
                    <a:lumMod val="50000"/>
                  </a:schemeClr>
                </a:solidFill>
              </a:rPr>
              <a:t>Conclusion</a:t>
            </a:r>
            <a:r>
              <a:rPr lang="en-IN" sz="2400" b="1" dirty="0" smtClean="0">
                <a:solidFill>
                  <a:schemeClr val="accent1">
                    <a:lumMod val="50000"/>
                  </a:schemeClr>
                </a:solidFill>
              </a:rPr>
              <a:t>:</a:t>
            </a:r>
            <a:endParaRPr lang="en-IN" sz="2400" b="1" dirty="0">
              <a:solidFill>
                <a:schemeClr val="accent1">
                  <a:lumMod val="50000"/>
                </a:schemeClr>
              </a:solidFill>
            </a:endParaRPr>
          </a:p>
          <a:p>
            <a:r>
              <a:rPr lang="en-IN" sz="2400" dirty="0">
                <a:solidFill>
                  <a:schemeClr val="accent1">
                    <a:lumMod val="50000"/>
                  </a:schemeClr>
                </a:solidFill>
              </a:rPr>
              <a:t>Churn Sage successfully predicts customer churn using ML &amp; XAI</a:t>
            </a:r>
            <a:r>
              <a:rPr lang="en-IN" sz="2400" dirty="0" smtClean="0">
                <a:solidFill>
                  <a:schemeClr val="accent1">
                    <a:lumMod val="50000"/>
                  </a:schemeClr>
                </a:solidFill>
              </a:rPr>
              <a:t>.</a:t>
            </a:r>
            <a:endParaRPr lang="en-IN" sz="2400" dirty="0">
              <a:solidFill>
                <a:schemeClr val="accent1">
                  <a:lumMod val="50000"/>
                </a:schemeClr>
              </a:solidFill>
            </a:endParaRPr>
          </a:p>
          <a:p>
            <a:r>
              <a:rPr lang="en-IN" sz="2400" dirty="0">
                <a:solidFill>
                  <a:schemeClr val="accent1">
                    <a:lumMod val="50000"/>
                  </a:schemeClr>
                </a:solidFill>
              </a:rPr>
              <a:t>High accuracy models like Stacking &amp; Voting Classifiers outperform traditional methods</a:t>
            </a:r>
            <a:r>
              <a:rPr lang="en-IN" sz="2400" dirty="0" smtClean="0">
                <a:solidFill>
                  <a:schemeClr val="accent1">
                    <a:lumMod val="50000"/>
                  </a:schemeClr>
                </a:solidFill>
              </a:rPr>
              <a:t>.</a:t>
            </a:r>
            <a:endParaRPr lang="en-IN" sz="2400" dirty="0">
              <a:solidFill>
                <a:schemeClr val="accent1">
                  <a:lumMod val="50000"/>
                </a:schemeClr>
              </a:solidFill>
            </a:endParaRPr>
          </a:p>
          <a:p>
            <a:r>
              <a:rPr lang="en-IN" sz="2400" dirty="0">
                <a:solidFill>
                  <a:schemeClr val="accent1">
                    <a:lumMod val="50000"/>
                  </a:schemeClr>
                </a:solidFill>
              </a:rPr>
              <a:t>Helps businesses take proactive steps for customer </a:t>
            </a:r>
            <a:r>
              <a:rPr lang="en-IN" sz="2400" dirty="0" smtClean="0">
                <a:solidFill>
                  <a:schemeClr val="accent1">
                    <a:lumMod val="50000"/>
                  </a:schemeClr>
                </a:solidFill>
              </a:rPr>
              <a:t>retention.</a:t>
            </a:r>
          </a:p>
          <a:p>
            <a:pPr marL="0" indent="0">
              <a:buNone/>
            </a:pPr>
            <a:endParaRPr lang="en-IN" sz="2400" dirty="0" smtClean="0">
              <a:solidFill>
                <a:schemeClr val="accent1">
                  <a:lumMod val="50000"/>
                </a:schemeClr>
              </a:solidFill>
            </a:endParaRPr>
          </a:p>
          <a:p>
            <a:pPr marL="0" indent="0">
              <a:buNone/>
            </a:pPr>
            <a:r>
              <a:rPr lang="en-IN" sz="2400" b="1" dirty="0" smtClean="0">
                <a:solidFill>
                  <a:schemeClr val="accent1">
                    <a:lumMod val="50000"/>
                  </a:schemeClr>
                </a:solidFill>
              </a:rPr>
              <a:t>Future Enhancements:</a:t>
            </a:r>
            <a:endParaRPr lang="en-IN" sz="2400" b="1" dirty="0">
              <a:solidFill>
                <a:schemeClr val="accent1">
                  <a:lumMod val="50000"/>
                </a:schemeClr>
              </a:solidFill>
            </a:endParaRPr>
          </a:p>
          <a:p>
            <a:r>
              <a:rPr lang="en-IN" sz="2400" dirty="0" smtClean="0">
                <a:solidFill>
                  <a:schemeClr val="accent1">
                    <a:lumMod val="50000"/>
                  </a:schemeClr>
                </a:solidFill>
              </a:rPr>
              <a:t>To implement </a:t>
            </a:r>
            <a:r>
              <a:rPr lang="en-IN" sz="2400" dirty="0">
                <a:solidFill>
                  <a:schemeClr val="accent1">
                    <a:lumMod val="50000"/>
                  </a:schemeClr>
                </a:solidFill>
              </a:rPr>
              <a:t>real-time churn prediction pipelines</a:t>
            </a:r>
            <a:r>
              <a:rPr lang="en-IN" sz="2400" dirty="0" smtClean="0">
                <a:solidFill>
                  <a:schemeClr val="accent1">
                    <a:lumMod val="50000"/>
                  </a:schemeClr>
                </a:solidFill>
              </a:rPr>
              <a:t>.</a:t>
            </a:r>
            <a:endParaRPr lang="en-IN" sz="2400" dirty="0">
              <a:solidFill>
                <a:schemeClr val="accent1">
                  <a:lumMod val="50000"/>
                </a:schemeClr>
              </a:solidFill>
            </a:endParaRPr>
          </a:p>
          <a:p>
            <a:r>
              <a:rPr lang="en-IN" sz="2400" dirty="0">
                <a:solidFill>
                  <a:schemeClr val="accent1">
                    <a:lumMod val="50000"/>
                  </a:schemeClr>
                </a:solidFill>
              </a:rPr>
              <a:t>Explore deep learning models for better </a:t>
            </a:r>
            <a:r>
              <a:rPr lang="en-IN" sz="2400" dirty="0" smtClean="0">
                <a:solidFill>
                  <a:schemeClr val="accent1">
                    <a:lumMod val="50000"/>
                  </a:schemeClr>
                </a:solidFill>
              </a:rPr>
              <a:t>predictions in the future with 100% accuracy.</a:t>
            </a:r>
            <a:endParaRPr lang="en-IN" sz="2400" dirty="0">
              <a:solidFill>
                <a:schemeClr val="accent1">
                  <a:lumMod val="50000"/>
                </a:schemeClr>
              </a:solidFill>
            </a:endParaRPr>
          </a:p>
          <a:p>
            <a:r>
              <a:rPr lang="en-IN" sz="2400" dirty="0" smtClean="0">
                <a:solidFill>
                  <a:schemeClr val="accent1">
                    <a:lumMod val="50000"/>
                  </a:schemeClr>
                </a:solidFill>
              </a:rPr>
              <a:t>To Use </a:t>
            </a:r>
            <a:r>
              <a:rPr lang="en-IN" sz="2400" dirty="0">
                <a:solidFill>
                  <a:schemeClr val="accent1">
                    <a:lumMod val="50000"/>
                  </a:schemeClr>
                </a:solidFill>
              </a:rPr>
              <a:t>customer segmentation &amp; clustering for targeted retention strategies.</a:t>
            </a:r>
          </a:p>
        </p:txBody>
      </p:sp>
      <p:sp>
        <p:nvSpPr>
          <p:cNvPr id="8" name="TextBox 7"/>
          <p:cNvSpPr txBox="1"/>
          <p:nvPr/>
        </p:nvSpPr>
        <p:spPr>
          <a:xfrm>
            <a:off x="5261419" y="124252"/>
            <a:ext cx="2784021" cy="461665"/>
          </a:xfrm>
          <a:prstGeom prst="rect">
            <a:avLst/>
          </a:prstGeom>
          <a:noFill/>
        </p:spPr>
        <p:txBody>
          <a:bodyPr wrap="square" rtlCol="0">
            <a:spAutoFit/>
          </a:bodyPr>
          <a:lstStyle/>
          <a:p>
            <a:r>
              <a:rPr lang="en-IN" sz="2400" dirty="0" smtClean="0">
                <a:solidFill>
                  <a:schemeClr val="accent1">
                    <a:lumMod val="50000"/>
                  </a:schemeClr>
                </a:solidFill>
                <a:latin typeface="Bahnschrift Condensed" panose="020B0502040204020203" pitchFamily="34" charset="0"/>
              </a:rPr>
              <a:t>IISU-</a:t>
            </a:r>
            <a:r>
              <a:rPr lang="en-IN" sz="2400" dirty="0" smtClean="0">
                <a:solidFill>
                  <a:schemeClr val="accent1">
                    <a:lumMod val="75000"/>
                  </a:schemeClr>
                </a:solidFill>
                <a:latin typeface="Bahnschrift Condensed" panose="020B0502040204020203" pitchFamily="34" charset="0"/>
              </a:rPr>
              <a:t>ASSET</a:t>
            </a:r>
            <a:r>
              <a:rPr lang="en-IN" sz="2400" dirty="0" smtClean="0">
                <a:solidFill>
                  <a:schemeClr val="accent1">
                    <a:lumMod val="50000"/>
                  </a:schemeClr>
                </a:solidFill>
                <a:latin typeface="Bahnschrift Condensed" panose="020B0502040204020203" pitchFamily="34" charset="0"/>
              </a:rPr>
              <a:t> 2025</a:t>
            </a:r>
            <a:endParaRPr lang="en-IN" sz="2400" dirty="0">
              <a:solidFill>
                <a:schemeClr val="accent1">
                  <a:lumMod val="50000"/>
                </a:schemeClr>
              </a:solidFill>
              <a:latin typeface="Bahnschrift Condensed" panose="020B0502040204020203" pitchFamily="34" charset="0"/>
            </a:endParaRPr>
          </a:p>
        </p:txBody>
      </p:sp>
      <p:sp>
        <p:nvSpPr>
          <p:cNvPr id="9" name="Rectangle 8"/>
          <p:cNvSpPr/>
          <p:nvPr/>
        </p:nvSpPr>
        <p:spPr>
          <a:xfrm>
            <a:off x="0" y="6652418"/>
            <a:ext cx="12192000" cy="20558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0" y="6652418"/>
            <a:ext cx="383721" cy="2055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641507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5111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6103" y="119821"/>
            <a:ext cx="864269" cy="511472"/>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2277" y="38879"/>
            <a:ext cx="719142" cy="693967"/>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87904" y="166163"/>
            <a:ext cx="1311877" cy="362406"/>
          </a:xfrm>
          <a:prstGeom prst="rect">
            <a:avLst/>
          </a:prstGeom>
        </p:spPr>
      </p:pic>
      <p:sp>
        <p:nvSpPr>
          <p:cNvPr id="2" name="Title 1"/>
          <p:cNvSpPr>
            <a:spLocks noGrp="1"/>
          </p:cNvSpPr>
          <p:nvPr>
            <p:ph type="title"/>
          </p:nvPr>
        </p:nvSpPr>
        <p:spPr>
          <a:xfrm>
            <a:off x="608238" y="753989"/>
            <a:ext cx="10515600" cy="976838"/>
          </a:xfrm>
        </p:spPr>
        <p:txBody>
          <a:bodyPr/>
          <a:lstStyle/>
          <a:p>
            <a:r>
              <a:rPr lang="en-IN" dirty="0" smtClean="0">
                <a:solidFill>
                  <a:schemeClr val="accent2"/>
                </a:solidFill>
                <a:latin typeface="Bahnschrift Condensed" panose="020B0502040204020203" pitchFamily="34" charset="0"/>
              </a:rPr>
              <a:t>References</a:t>
            </a:r>
            <a:endParaRPr lang="en-IN" dirty="0">
              <a:solidFill>
                <a:schemeClr val="accent2"/>
              </a:solidFill>
              <a:latin typeface="Bahnschrift Condensed" panose="020B0502040204020203" pitchFamily="34" charset="0"/>
            </a:endParaRPr>
          </a:p>
        </p:txBody>
      </p:sp>
      <p:sp>
        <p:nvSpPr>
          <p:cNvPr id="3" name="Content Placeholder 2"/>
          <p:cNvSpPr>
            <a:spLocks noGrp="1"/>
          </p:cNvSpPr>
          <p:nvPr>
            <p:ph idx="1"/>
          </p:nvPr>
        </p:nvSpPr>
        <p:spPr>
          <a:xfrm>
            <a:off x="608237" y="1694994"/>
            <a:ext cx="11295291" cy="4837602"/>
          </a:xfrm>
        </p:spPr>
        <p:txBody>
          <a:bodyPr>
            <a:normAutofit/>
          </a:bodyPr>
          <a:lstStyle/>
          <a:p>
            <a:r>
              <a:rPr lang="en-IN" sz="2400" dirty="0" err="1" smtClean="0">
                <a:solidFill>
                  <a:schemeClr val="accent1">
                    <a:lumMod val="50000"/>
                  </a:schemeClr>
                </a:solidFill>
              </a:rPr>
              <a:t>Shahabikargar</a:t>
            </a:r>
            <a:r>
              <a:rPr lang="en-IN" sz="2400" dirty="0">
                <a:solidFill>
                  <a:schemeClr val="accent1">
                    <a:lumMod val="50000"/>
                  </a:schemeClr>
                </a:solidFill>
              </a:rPr>
              <a:t>, Maryam, et al. (2024) – Focuses on Generative AI for feature engineering, which aligns with how Churn Sage optimizes feature selection for better churn prediction</a:t>
            </a:r>
            <a:r>
              <a:rPr lang="en-IN" sz="2400" dirty="0" smtClean="0">
                <a:solidFill>
                  <a:schemeClr val="accent1">
                    <a:lumMod val="50000"/>
                  </a:schemeClr>
                </a:solidFill>
              </a:rPr>
              <a:t>.</a:t>
            </a:r>
            <a:endParaRPr lang="en-IN" sz="2400" dirty="0">
              <a:solidFill>
                <a:schemeClr val="accent1">
                  <a:lumMod val="50000"/>
                </a:schemeClr>
              </a:solidFill>
            </a:endParaRPr>
          </a:p>
          <a:p>
            <a:r>
              <a:rPr lang="en-IN" sz="2400" dirty="0" err="1">
                <a:solidFill>
                  <a:schemeClr val="accent1">
                    <a:lumMod val="50000"/>
                  </a:schemeClr>
                </a:solidFill>
              </a:rPr>
              <a:t>Phumchusri</a:t>
            </a:r>
            <a:r>
              <a:rPr lang="en-IN" sz="2400" dirty="0">
                <a:solidFill>
                  <a:schemeClr val="accent1">
                    <a:lumMod val="50000"/>
                  </a:schemeClr>
                </a:solidFill>
              </a:rPr>
              <a:t>, </a:t>
            </a:r>
            <a:r>
              <a:rPr lang="en-IN" sz="2400" dirty="0" err="1">
                <a:solidFill>
                  <a:schemeClr val="accent1">
                    <a:lumMod val="50000"/>
                  </a:schemeClr>
                </a:solidFill>
              </a:rPr>
              <a:t>Naragain</a:t>
            </a:r>
            <a:r>
              <a:rPr lang="en-IN" sz="2400" dirty="0">
                <a:solidFill>
                  <a:schemeClr val="accent1">
                    <a:lumMod val="50000"/>
                  </a:schemeClr>
                </a:solidFill>
              </a:rPr>
              <a:t>, and </a:t>
            </a:r>
            <a:r>
              <a:rPr lang="en-IN" sz="2400" dirty="0" err="1">
                <a:solidFill>
                  <a:schemeClr val="accent1">
                    <a:lumMod val="50000"/>
                  </a:schemeClr>
                </a:solidFill>
              </a:rPr>
              <a:t>Phongsatorn</a:t>
            </a:r>
            <a:r>
              <a:rPr lang="en-IN" sz="2400" dirty="0">
                <a:solidFill>
                  <a:schemeClr val="accent1">
                    <a:lumMod val="50000"/>
                  </a:schemeClr>
                </a:solidFill>
              </a:rPr>
              <a:t> </a:t>
            </a:r>
            <a:r>
              <a:rPr lang="en-IN" sz="2400" dirty="0" err="1">
                <a:solidFill>
                  <a:schemeClr val="accent1">
                    <a:lumMod val="50000"/>
                  </a:schemeClr>
                </a:solidFill>
              </a:rPr>
              <a:t>Amornvetchayakul</a:t>
            </a:r>
            <a:r>
              <a:rPr lang="en-IN" sz="2400" dirty="0">
                <a:solidFill>
                  <a:schemeClr val="accent1">
                    <a:lumMod val="50000"/>
                  </a:schemeClr>
                </a:solidFill>
              </a:rPr>
              <a:t> (2024) – Discusses ML models for churn prediction in SaaS, which is relevant as your project applies ML to customer churn analysis</a:t>
            </a:r>
            <a:r>
              <a:rPr lang="en-IN" sz="2400" dirty="0" smtClean="0">
                <a:solidFill>
                  <a:schemeClr val="accent1">
                    <a:lumMod val="50000"/>
                  </a:schemeClr>
                </a:solidFill>
              </a:rPr>
              <a:t>.</a:t>
            </a:r>
            <a:endParaRPr lang="en-IN" sz="2400" dirty="0">
              <a:solidFill>
                <a:schemeClr val="accent1">
                  <a:lumMod val="50000"/>
                </a:schemeClr>
              </a:solidFill>
            </a:endParaRPr>
          </a:p>
          <a:p>
            <a:r>
              <a:rPr lang="en-IN" sz="2400" dirty="0">
                <a:solidFill>
                  <a:schemeClr val="accent1">
                    <a:lumMod val="50000"/>
                  </a:schemeClr>
                </a:solidFill>
              </a:rPr>
              <a:t>Aaron, Joshua, et al. (2024) – Explores churn prediction in grocery e-retailing, adding a real-world business application perspective</a:t>
            </a:r>
            <a:r>
              <a:rPr lang="en-IN" sz="2400" dirty="0" smtClean="0">
                <a:solidFill>
                  <a:schemeClr val="accent1">
                    <a:lumMod val="50000"/>
                  </a:schemeClr>
                </a:solidFill>
              </a:rPr>
              <a:t>.</a:t>
            </a:r>
            <a:endParaRPr lang="en-IN" sz="2400" dirty="0">
              <a:solidFill>
                <a:schemeClr val="accent1">
                  <a:lumMod val="50000"/>
                </a:schemeClr>
              </a:solidFill>
            </a:endParaRPr>
          </a:p>
          <a:p>
            <a:r>
              <a:rPr lang="en-IN" sz="2400" dirty="0" err="1">
                <a:solidFill>
                  <a:schemeClr val="accent1">
                    <a:lumMod val="50000"/>
                  </a:schemeClr>
                </a:solidFill>
              </a:rPr>
              <a:t>Forghani</a:t>
            </a:r>
            <a:r>
              <a:rPr lang="en-IN" sz="2400" dirty="0">
                <a:solidFill>
                  <a:schemeClr val="accent1">
                    <a:lumMod val="50000"/>
                  </a:schemeClr>
                </a:solidFill>
              </a:rPr>
              <a:t> </a:t>
            </a:r>
            <a:r>
              <a:rPr lang="en-IN" sz="2400" dirty="0" err="1">
                <a:solidFill>
                  <a:schemeClr val="accent1">
                    <a:lumMod val="50000"/>
                  </a:schemeClr>
                </a:solidFill>
              </a:rPr>
              <a:t>Dehnavi</a:t>
            </a:r>
            <a:r>
              <a:rPr lang="en-IN" sz="2400" dirty="0">
                <a:solidFill>
                  <a:schemeClr val="accent1">
                    <a:lumMod val="50000"/>
                  </a:schemeClr>
                </a:solidFill>
              </a:rPr>
              <a:t>, </a:t>
            </a:r>
            <a:r>
              <a:rPr lang="en-IN" sz="2400" dirty="0" err="1">
                <a:solidFill>
                  <a:schemeClr val="accent1">
                    <a:lumMod val="50000"/>
                  </a:schemeClr>
                </a:solidFill>
              </a:rPr>
              <a:t>Seyed</a:t>
            </a:r>
            <a:r>
              <a:rPr lang="en-IN" sz="2400" dirty="0">
                <a:solidFill>
                  <a:schemeClr val="accent1">
                    <a:lumMod val="50000"/>
                  </a:schemeClr>
                </a:solidFill>
              </a:rPr>
              <a:t> Mohammad, et al. (2022) – Covers Deep Learning-based churn prediction models and customer retention strategies, which connects with potential future enhancements for Churn Sage.</a:t>
            </a:r>
          </a:p>
        </p:txBody>
      </p:sp>
      <p:sp>
        <p:nvSpPr>
          <p:cNvPr id="8" name="TextBox 7"/>
          <p:cNvSpPr txBox="1"/>
          <p:nvPr/>
        </p:nvSpPr>
        <p:spPr>
          <a:xfrm>
            <a:off x="5261419" y="124252"/>
            <a:ext cx="2784021" cy="461665"/>
          </a:xfrm>
          <a:prstGeom prst="rect">
            <a:avLst/>
          </a:prstGeom>
          <a:noFill/>
        </p:spPr>
        <p:txBody>
          <a:bodyPr wrap="square" rtlCol="0">
            <a:spAutoFit/>
          </a:bodyPr>
          <a:lstStyle/>
          <a:p>
            <a:r>
              <a:rPr lang="en-IN" sz="2400" dirty="0" smtClean="0">
                <a:solidFill>
                  <a:schemeClr val="accent1">
                    <a:lumMod val="50000"/>
                  </a:schemeClr>
                </a:solidFill>
                <a:latin typeface="Bahnschrift Condensed" panose="020B0502040204020203" pitchFamily="34" charset="0"/>
              </a:rPr>
              <a:t>IISU-</a:t>
            </a:r>
            <a:r>
              <a:rPr lang="en-IN" sz="2400" dirty="0" smtClean="0">
                <a:solidFill>
                  <a:schemeClr val="accent1">
                    <a:lumMod val="75000"/>
                  </a:schemeClr>
                </a:solidFill>
                <a:latin typeface="Bahnschrift Condensed" panose="020B0502040204020203" pitchFamily="34" charset="0"/>
              </a:rPr>
              <a:t>ASSET</a:t>
            </a:r>
            <a:r>
              <a:rPr lang="en-IN" sz="2400" dirty="0" smtClean="0">
                <a:solidFill>
                  <a:schemeClr val="accent1">
                    <a:lumMod val="50000"/>
                  </a:schemeClr>
                </a:solidFill>
                <a:latin typeface="Bahnschrift Condensed" panose="020B0502040204020203" pitchFamily="34" charset="0"/>
              </a:rPr>
              <a:t> 2025</a:t>
            </a:r>
            <a:endParaRPr lang="en-IN" sz="2400" dirty="0">
              <a:solidFill>
                <a:schemeClr val="accent1">
                  <a:lumMod val="50000"/>
                </a:schemeClr>
              </a:solidFill>
              <a:latin typeface="Bahnschrift Condensed" panose="020B0502040204020203" pitchFamily="34" charset="0"/>
            </a:endParaRPr>
          </a:p>
        </p:txBody>
      </p:sp>
      <p:sp>
        <p:nvSpPr>
          <p:cNvPr id="9" name="Rectangle 8"/>
          <p:cNvSpPr/>
          <p:nvPr/>
        </p:nvSpPr>
        <p:spPr>
          <a:xfrm>
            <a:off x="0" y="6652418"/>
            <a:ext cx="12192000" cy="20558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0" y="6652418"/>
            <a:ext cx="383721" cy="2055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996658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5111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6103" y="119821"/>
            <a:ext cx="864269" cy="511472"/>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2277" y="38879"/>
            <a:ext cx="719142" cy="693967"/>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87904" y="166163"/>
            <a:ext cx="1311877" cy="362406"/>
          </a:xfrm>
          <a:prstGeom prst="rect">
            <a:avLst/>
          </a:prstGeom>
        </p:spPr>
      </p:pic>
      <p:sp>
        <p:nvSpPr>
          <p:cNvPr id="2" name="Title 1"/>
          <p:cNvSpPr>
            <a:spLocks noGrp="1"/>
          </p:cNvSpPr>
          <p:nvPr>
            <p:ph type="title"/>
          </p:nvPr>
        </p:nvSpPr>
        <p:spPr>
          <a:xfrm>
            <a:off x="608238" y="753989"/>
            <a:ext cx="10515600" cy="976838"/>
          </a:xfrm>
        </p:spPr>
        <p:txBody>
          <a:bodyPr/>
          <a:lstStyle/>
          <a:p>
            <a:r>
              <a:rPr lang="en-IN" dirty="0" smtClean="0">
                <a:solidFill>
                  <a:schemeClr val="accent2"/>
                </a:solidFill>
                <a:latin typeface="Bahnschrift Condensed" panose="020B0502040204020203" pitchFamily="34" charset="0"/>
              </a:rPr>
              <a:t>Thank You</a:t>
            </a:r>
            <a:endParaRPr lang="en-IN" dirty="0">
              <a:solidFill>
                <a:schemeClr val="accent2"/>
              </a:solidFill>
              <a:latin typeface="Bahnschrift Condensed" panose="020B0502040204020203" pitchFamily="34" charset="0"/>
            </a:endParaRPr>
          </a:p>
        </p:txBody>
      </p:sp>
      <p:sp>
        <p:nvSpPr>
          <p:cNvPr id="8" name="TextBox 7"/>
          <p:cNvSpPr txBox="1"/>
          <p:nvPr/>
        </p:nvSpPr>
        <p:spPr>
          <a:xfrm>
            <a:off x="5261419" y="124252"/>
            <a:ext cx="2784021" cy="461665"/>
          </a:xfrm>
          <a:prstGeom prst="rect">
            <a:avLst/>
          </a:prstGeom>
          <a:noFill/>
        </p:spPr>
        <p:txBody>
          <a:bodyPr wrap="square" rtlCol="0">
            <a:spAutoFit/>
          </a:bodyPr>
          <a:lstStyle/>
          <a:p>
            <a:r>
              <a:rPr lang="en-IN" sz="2400" dirty="0" smtClean="0">
                <a:solidFill>
                  <a:schemeClr val="accent1">
                    <a:lumMod val="50000"/>
                  </a:schemeClr>
                </a:solidFill>
                <a:latin typeface="Bahnschrift Condensed" panose="020B0502040204020203" pitchFamily="34" charset="0"/>
              </a:rPr>
              <a:t>IISU-</a:t>
            </a:r>
            <a:r>
              <a:rPr lang="en-IN" sz="2400" dirty="0" smtClean="0">
                <a:solidFill>
                  <a:schemeClr val="accent1">
                    <a:lumMod val="75000"/>
                  </a:schemeClr>
                </a:solidFill>
                <a:latin typeface="Bahnschrift Condensed" panose="020B0502040204020203" pitchFamily="34" charset="0"/>
              </a:rPr>
              <a:t>ASSET</a:t>
            </a:r>
            <a:r>
              <a:rPr lang="en-IN" sz="2400" dirty="0" smtClean="0">
                <a:solidFill>
                  <a:schemeClr val="accent1">
                    <a:lumMod val="50000"/>
                  </a:schemeClr>
                </a:solidFill>
                <a:latin typeface="Bahnschrift Condensed" panose="020B0502040204020203" pitchFamily="34" charset="0"/>
              </a:rPr>
              <a:t> 2025</a:t>
            </a:r>
            <a:endParaRPr lang="en-IN" sz="2400" dirty="0">
              <a:solidFill>
                <a:schemeClr val="accent1">
                  <a:lumMod val="50000"/>
                </a:schemeClr>
              </a:solidFill>
              <a:latin typeface="Bahnschrift Condensed" panose="020B0502040204020203" pitchFamily="34" charset="0"/>
            </a:endParaRPr>
          </a:p>
        </p:txBody>
      </p:sp>
      <p:sp>
        <p:nvSpPr>
          <p:cNvPr id="9" name="Rectangle 8"/>
          <p:cNvSpPr/>
          <p:nvPr/>
        </p:nvSpPr>
        <p:spPr>
          <a:xfrm>
            <a:off x="0" y="6652418"/>
            <a:ext cx="12192000" cy="20558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0" y="6652418"/>
            <a:ext cx="383721" cy="2055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43352" y="2230062"/>
            <a:ext cx="3396342" cy="3277446"/>
          </a:xfrm>
          <a:prstGeom prst="rect">
            <a:avLst/>
          </a:prstGeom>
        </p:spPr>
      </p:pic>
      <p:sp>
        <p:nvSpPr>
          <p:cNvPr id="12" name="TextBox 11"/>
          <p:cNvSpPr txBox="1"/>
          <p:nvPr/>
        </p:nvSpPr>
        <p:spPr>
          <a:xfrm>
            <a:off x="4385119" y="5433631"/>
            <a:ext cx="2676989" cy="646331"/>
          </a:xfrm>
          <a:prstGeom prst="rect">
            <a:avLst/>
          </a:prstGeom>
          <a:noFill/>
        </p:spPr>
        <p:txBody>
          <a:bodyPr wrap="square" rtlCol="0">
            <a:spAutoFit/>
          </a:bodyPr>
          <a:lstStyle/>
          <a:p>
            <a:r>
              <a:rPr lang="en-IN" sz="3600" dirty="0" smtClean="0">
                <a:solidFill>
                  <a:schemeClr val="accent1">
                    <a:lumMod val="50000"/>
                  </a:schemeClr>
                </a:solidFill>
                <a:latin typeface="Bahnschrift Condensed" panose="020B0502040204020203" pitchFamily="34" charset="0"/>
              </a:rPr>
              <a:t>IISU-</a:t>
            </a:r>
            <a:r>
              <a:rPr lang="en-IN" sz="3600" dirty="0" smtClean="0">
                <a:solidFill>
                  <a:schemeClr val="accent1">
                    <a:lumMod val="75000"/>
                  </a:schemeClr>
                </a:solidFill>
                <a:latin typeface="Bahnschrift Condensed" panose="020B0502040204020203" pitchFamily="34" charset="0"/>
              </a:rPr>
              <a:t>ASSET</a:t>
            </a:r>
            <a:r>
              <a:rPr lang="en-IN" sz="3600" dirty="0" smtClean="0">
                <a:solidFill>
                  <a:schemeClr val="accent1">
                    <a:lumMod val="50000"/>
                  </a:schemeClr>
                </a:solidFill>
                <a:latin typeface="Bahnschrift Condensed" panose="020B0502040204020203" pitchFamily="34" charset="0"/>
              </a:rPr>
              <a:t> 2025</a:t>
            </a:r>
            <a:endParaRPr lang="en-IN" sz="3600" dirty="0">
              <a:solidFill>
                <a:schemeClr val="accent1">
                  <a:lumMod val="50000"/>
                </a:schemeClr>
              </a:solidFill>
              <a:latin typeface="Bahnschrift Condensed" panose="020B0502040204020203" pitchFamily="34" charset="0"/>
            </a:endParaRPr>
          </a:p>
        </p:txBody>
      </p:sp>
    </p:spTree>
    <p:extLst>
      <p:ext uri="{BB962C8B-B14F-4D97-AF65-F5344CB8AC3E}">
        <p14:creationId xmlns:p14="http://schemas.microsoft.com/office/powerpoint/2010/main" val="10866768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TotalTime>
  <Words>765</Words>
  <Application>Microsoft Office PowerPoint</Application>
  <PresentationFormat>Widescreen</PresentationFormat>
  <Paragraphs>85</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Bahnschrift Condensed</vt:lpstr>
      <vt:lpstr>Calibri</vt:lpstr>
      <vt:lpstr>Calibri Light</vt:lpstr>
      <vt:lpstr>Times New Roman</vt:lpstr>
      <vt:lpstr>Office Theme</vt:lpstr>
      <vt:lpstr>Paper ID: 152 Paper Title: Churn Sage: Leveraging Machine Learning and Explainable AI for Enhanced Customer Retention</vt:lpstr>
      <vt:lpstr>Program Statement / Introduction</vt:lpstr>
      <vt:lpstr>Literature Review</vt:lpstr>
      <vt:lpstr>Methodology</vt:lpstr>
      <vt:lpstr>Dataset (if any)</vt:lpstr>
      <vt:lpstr>Results &amp; Discussions</vt:lpstr>
      <vt:lpstr>Conclusion &amp; Future work</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IIS UNIV</dc:creator>
  <cp:lastModifiedBy>Satyam Jha</cp:lastModifiedBy>
  <cp:revision>20</cp:revision>
  <dcterms:created xsi:type="dcterms:W3CDTF">2025-03-06T06:04:22Z</dcterms:created>
  <dcterms:modified xsi:type="dcterms:W3CDTF">2025-03-28T11:03:21Z</dcterms:modified>
</cp:coreProperties>
</file>